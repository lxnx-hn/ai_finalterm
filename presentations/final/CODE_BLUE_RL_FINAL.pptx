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504f0df5cb4de7" /><Relationship Type="http://schemas.openxmlformats.org/officeDocument/2006/relationships/extended-properties" Target="/docProps/app.xml" Id="R5c1fa6fe72b247da" /><Relationship Type="http://schemas.openxmlformats.org/officeDocument/2006/relationships/officeDocument" Target="/ppt/presentation.xml" Id="Re8cf270a5d494b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6fbb86300d4db3"/>
  </p:sldMasterIdLst>
  <p:notesMasterIdLst>
    <p:notesMasterId xmlns:r="http://schemas.openxmlformats.org/officeDocument/2006/relationships" r:id="R762eae3915044a87"/>
  </p:notesMasterIdLst>
  <p:sldIdLst>
    <p:sldId xmlns:r="http://schemas.openxmlformats.org/officeDocument/2006/relationships" id="256" r:id="R0cdfb1f08f6048e5"/>
    <p:sldId xmlns:r="http://schemas.openxmlformats.org/officeDocument/2006/relationships" id="257" r:id="Rdab99014b0034e01"/>
    <p:sldId xmlns:r="http://schemas.openxmlformats.org/officeDocument/2006/relationships" id="258" r:id="R342b3fbbfc6b49d9"/>
    <p:sldId xmlns:r="http://schemas.openxmlformats.org/officeDocument/2006/relationships" id="259" r:id="R7b23e5a46df84ae0"/>
    <p:sldId xmlns:r="http://schemas.openxmlformats.org/officeDocument/2006/relationships" id="260" r:id="Rb3d6607205674659"/>
    <p:sldId xmlns:r="http://schemas.openxmlformats.org/officeDocument/2006/relationships" id="261" r:id="R3fdcd2270920455d"/>
    <p:sldId xmlns:r="http://schemas.openxmlformats.org/officeDocument/2006/relationships" id="262" r:id="Rf889f6d488314eaa"/>
    <p:sldId xmlns:r="http://schemas.openxmlformats.org/officeDocument/2006/relationships" id="263" r:id="Rdfe242cc447047bd"/>
    <p:sldId xmlns:r="http://schemas.openxmlformats.org/officeDocument/2006/relationships" id="264" r:id="R684d00e3fee84f04"/>
    <p:sldId xmlns:r="http://schemas.openxmlformats.org/officeDocument/2006/relationships" id="265" r:id="Raa8499e45e534395"/>
    <p:sldId xmlns:r="http://schemas.openxmlformats.org/officeDocument/2006/relationships" id="266" r:id="Re6567f1e9ecc41c2"/>
    <p:sldId xmlns:r="http://schemas.openxmlformats.org/officeDocument/2006/relationships" id="267" r:id="R21948671eaae4afb"/>
    <p:sldId xmlns:r="http://schemas.openxmlformats.org/officeDocument/2006/relationships" id="268" r:id="R74bb5c9a50ec42e4"/>
    <p:sldId xmlns:r="http://schemas.openxmlformats.org/officeDocument/2006/relationships" id="269" r:id="Raabe3f19372a4c81"/>
    <p:sldId xmlns:r="http://schemas.openxmlformats.org/officeDocument/2006/relationships" id="270" r:id="R65fbf368d1d64996"/>
    <p:sldId xmlns:r="http://schemas.openxmlformats.org/officeDocument/2006/relationships" id="271" r:id="R7c4b7ad0f8dd4ddc"/>
    <p:sldId xmlns:r="http://schemas.openxmlformats.org/officeDocument/2006/relationships" id="272" r:id="Re2e6b609530b4f73"/>
    <p:sldId xmlns:r="http://schemas.openxmlformats.org/officeDocument/2006/relationships" id="273" r:id="R9fe13a894b2145d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ef17b54d074e84" /><Relationship Type="http://schemas.openxmlformats.org/officeDocument/2006/relationships/slideMaster" Target="/ppt/slideMasters/slideMaster1.xml" Id="Rb86fbb86300d4db3" /><Relationship Type="http://schemas.openxmlformats.org/officeDocument/2006/relationships/notesMaster" Target="/ppt/notesMasters/notesMaster1.xml" Id="R762eae3915044a87" /><Relationship Type="http://schemas.openxmlformats.org/officeDocument/2006/relationships/presProps" Target="/ppt/presProps.xml" Id="R58a58ebf49ef48c6" /><Relationship Type="http://schemas.openxmlformats.org/officeDocument/2006/relationships/viewProps" Target="/ppt/viewProps.xml" Id="R401c08a7ac5c4aa6" /><Relationship Type="http://schemas.openxmlformats.org/officeDocument/2006/relationships/tableStyles" Target="/ppt/tableStyles.xml" Id="R91c243ecfdb442f3" /><Relationship Type="http://schemas.openxmlformats.org/officeDocument/2006/relationships/slide" Target="/ppt/slides/slide1.xml" Id="R0cdfb1f08f6048e5" /><Relationship Type="http://schemas.openxmlformats.org/officeDocument/2006/relationships/slide" Target="/ppt/slides/slide2.xml" Id="Rdab99014b0034e01" /><Relationship Type="http://schemas.openxmlformats.org/officeDocument/2006/relationships/slide" Target="/ppt/slides/slide3.xml" Id="R342b3fbbfc6b49d9" /><Relationship Type="http://schemas.openxmlformats.org/officeDocument/2006/relationships/slide" Target="/ppt/slides/slide4.xml" Id="R7b23e5a46df84ae0" /><Relationship Type="http://schemas.openxmlformats.org/officeDocument/2006/relationships/slide" Target="/ppt/slides/slide5.xml" Id="Rb3d6607205674659" /><Relationship Type="http://schemas.openxmlformats.org/officeDocument/2006/relationships/slide" Target="/ppt/slides/slide6.xml" Id="R3fdcd2270920455d" /><Relationship Type="http://schemas.openxmlformats.org/officeDocument/2006/relationships/slide" Target="/ppt/slides/slide7.xml" Id="Rf889f6d488314eaa" /><Relationship Type="http://schemas.openxmlformats.org/officeDocument/2006/relationships/slide" Target="/ppt/slides/slide8.xml" Id="Rdfe242cc447047bd" /><Relationship Type="http://schemas.openxmlformats.org/officeDocument/2006/relationships/slide" Target="/ppt/slides/slide9.xml" Id="R684d00e3fee84f04" /><Relationship Type="http://schemas.openxmlformats.org/officeDocument/2006/relationships/slide" Target="/ppt/slides/slide10.xml" Id="Raa8499e45e534395" /><Relationship Type="http://schemas.openxmlformats.org/officeDocument/2006/relationships/slide" Target="/ppt/slides/slide11.xml" Id="Re6567f1e9ecc41c2" /><Relationship Type="http://schemas.openxmlformats.org/officeDocument/2006/relationships/slide" Target="/ppt/slides/slide12.xml" Id="R21948671eaae4afb" /><Relationship Type="http://schemas.openxmlformats.org/officeDocument/2006/relationships/slide" Target="/ppt/slides/slide13.xml" Id="R74bb5c9a50ec42e4" /><Relationship Type="http://schemas.openxmlformats.org/officeDocument/2006/relationships/slide" Target="/ppt/slides/slide14.xml" Id="Raabe3f19372a4c81" /><Relationship Type="http://schemas.openxmlformats.org/officeDocument/2006/relationships/slide" Target="/ppt/slides/slide15.xml" Id="R65fbf368d1d64996" /><Relationship Type="http://schemas.openxmlformats.org/officeDocument/2006/relationships/slide" Target="/ppt/slides/slide16.xml" Id="R7c4b7ad0f8dd4ddc" /><Relationship Type="http://schemas.openxmlformats.org/officeDocument/2006/relationships/slide" Target="/ppt/slides/slide17.xml" Id="Re2e6b609530b4f73" /><Relationship Type="http://schemas.openxmlformats.org/officeDocument/2006/relationships/slide" Target="/ppt/slides/slide18.xml" Id="R9fe13a894b2145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3a7f18193545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979f437dd24ad4" /><Relationship Type="http://schemas.openxmlformats.org/officeDocument/2006/relationships/notesMaster" Target="/ppt/notesMasters/notesMaster1.xml" Id="R0eb620c0360442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82d898a8d9433e" /><Relationship Type="http://schemas.openxmlformats.org/officeDocument/2006/relationships/notesMaster" Target="/ppt/notesMasters/notesMaster1.xml" Id="R43b04082dfa449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0eb2c6910e40fe" /><Relationship Type="http://schemas.openxmlformats.org/officeDocument/2006/relationships/notesMaster" Target="/ppt/notesMasters/notesMaster1.xml" Id="R6f232632e88d4d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47cf18290b4d4e" /><Relationship Type="http://schemas.openxmlformats.org/officeDocument/2006/relationships/notesMaster" Target="/ppt/notesMasters/notesMaster1.xml" Id="R5e2aab65830640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8bd27dcea3441d" /><Relationship Type="http://schemas.openxmlformats.org/officeDocument/2006/relationships/notesMaster" Target="/ppt/notesMasters/notesMaster1.xml" Id="Rb5176308241a44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84a272e0234a87" /><Relationship Type="http://schemas.openxmlformats.org/officeDocument/2006/relationships/notesMaster" Target="/ppt/notesMasters/notesMaster1.xml" Id="R111f363177d74e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81b91da7ca474d" /><Relationship Type="http://schemas.openxmlformats.org/officeDocument/2006/relationships/notesMaster" Target="/ppt/notesMasters/notesMaster1.xml" Id="Rb2c5c953a53f4d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4a6ad882c340bb" /><Relationship Type="http://schemas.openxmlformats.org/officeDocument/2006/relationships/notesMaster" Target="/ppt/notesMasters/notesMaster1.xml" Id="Rbb7e63d03fc04b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4ebd614fa748ac" /><Relationship Type="http://schemas.openxmlformats.org/officeDocument/2006/relationships/notesMaster" Target="/ppt/notesMasters/notesMaster1.xml" Id="R581ebca5484948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89f8e6e2954c36" /><Relationship Type="http://schemas.openxmlformats.org/officeDocument/2006/relationships/notesMaster" Target="/ppt/notesMasters/notesMaster1.xml" Id="Rd908a99e5eff40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0fbc2b8c17431c" /><Relationship Type="http://schemas.openxmlformats.org/officeDocument/2006/relationships/notesMaster" Target="/ppt/notesMasters/notesMaster1.xml" Id="R531b41fc59b14c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39f2b317be42f5" /><Relationship Type="http://schemas.openxmlformats.org/officeDocument/2006/relationships/notesMaster" Target="/ppt/notesMasters/notesMaster1.xml" Id="Rd26ca5e8bae840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79202e60fe4e9d" /><Relationship Type="http://schemas.openxmlformats.org/officeDocument/2006/relationships/notesMaster" Target="/ppt/notesMasters/notesMaster1.xml" Id="Red0d67bc2ab9432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b8591521df4ac8" /><Relationship Type="http://schemas.openxmlformats.org/officeDocument/2006/relationships/notesMaster" Target="/ppt/notesMasters/notesMaster1.xml" Id="R327cdefc78df4a2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ac79a63cd0d48b4" /><Relationship Type="http://schemas.openxmlformats.org/officeDocument/2006/relationships/notesMaster" Target="/ppt/notesMasters/notesMaster1.xml" Id="Ra309a292df8543c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e11cb2ad6346ba" /><Relationship Type="http://schemas.openxmlformats.org/officeDocument/2006/relationships/notesMaster" Target="/ppt/notesMasters/notesMaster1.xml" Id="R8a27034750374d8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83d48c2567041f1" /><Relationship Type="http://schemas.openxmlformats.org/officeDocument/2006/relationships/notesMaster" Target="/ppt/notesMasters/notesMaster1.xml" Id="R3191b7e9988b44b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45e1523b4644666" /><Relationship Type="http://schemas.openxmlformats.org/officeDocument/2006/relationships/notesMaster" Target="/ppt/notesMasters/notesMaster1.xml" Id="R4c26e6541ff84b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b795bca1049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6c8aa1a7a14774" /><Relationship Type="http://schemas.openxmlformats.org/officeDocument/2006/relationships/slideLayout" Target="/ppt/slideLayouts/slideLayout1.xml" Id="R45920e50d81a49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920e50d81a49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c247c75ca4a0c" /><Relationship Type="http://schemas.openxmlformats.org/officeDocument/2006/relationships/notesSlide" Target="/ppt/notesSlides/notesSlide1.xml" Id="Rbd688200e19a44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2905a77ea4bea" /><Relationship Type="http://schemas.openxmlformats.org/officeDocument/2006/relationships/notesSlide" Target="/ppt/notesSlides/notesSlide2.xml" Id="R6747ca8ad40c44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71a83408a4644" /><Relationship Type="http://schemas.openxmlformats.org/officeDocument/2006/relationships/notesSlide" Target="/ppt/notesSlides/notesSlide3.xml" Id="R13e8ea77576b4a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704d8ffe34069" /><Relationship Type="http://schemas.openxmlformats.org/officeDocument/2006/relationships/notesSlide" Target="/ppt/notesSlides/notesSlide4.xml" Id="R77db20d52f6742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037123ebb4c0e" /><Relationship Type="http://schemas.openxmlformats.org/officeDocument/2006/relationships/notesSlide" Target="/ppt/notesSlides/notesSlide5.xml" Id="Rb25016e3a6b440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b2e5c30284152" /><Relationship Type="http://schemas.openxmlformats.org/officeDocument/2006/relationships/notesSlide" Target="/ppt/notesSlides/notesSlide6.xml" Id="R1442b20c821c41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7e828bca54beb" /><Relationship Type="http://schemas.openxmlformats.org/officeDocument/2006/relationships/notesSlide" Target="/ppt/notesSlides/notesSlide7.xml" Id="Re9a2e4482dbf4b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1b8daf0594f64" /><Relationship Type="http://schemas.openxmlformats.org/officeDocument/2006/relationships/notesSlide" Target="/ppt/notesSlides/notesSlide8.xml" Id="R5a1382bda2f443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f6754ef4443f9" /><Relationship Type="http://schemas.openxmlformats.org/officeDocument/2006/relationships/notesSlide" Target="/ppt/notesSlides/notesSlide9.xml" Id="R1fd11ffb64e548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fa295c2da4b6b" /><Relationship Type="http://schemas.openxmlformats.org/officeDocument/2006/relationships/notesSlide" Target="/ppt/notesSlides/notesSlide10.xml" Id="R02a17648d94446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25c6f91884065" /><Relationship Type="http://schemas.openxmlformats.org/officeDocument/2006/relationships/notesSlide" Target="/ppt/notesSlides/notesSlide11.xml" Id="Ra207a05e07e14b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6b132485446c8" /><Relationship Type="http://schemas.openxmlformats.org/officeDocument/2006/relationships/notesSlide" Target="/ppt/notesSlides/notesSlide12.xml" Id="R1094c2029ce049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0aff3f1fb4094" /><Relationship Type="http://schemas.openxmlformats.org/officeDocument/2006/relationships/notesSlide" Target="/ppt/notesSlides/notesSlide13.xml" Id="Refed022bc24f4f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442223a8d4c9e" /><Relationship Type="http://schemas.openxmlformats.org/officeDocument/2006/relationships/notesSlide" Target="/ppt/notesSlides/notesSlide14.xml" Id="R690e6aaa89f7449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611ada3154a34" /><Relationship Type="http://schemas.openxmlformats.org/officeDocument/2006/relationships/notesSlide" Target="/ppt/notesSlides/notesSlide15.xml" Id="Rb15e14de35ba45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78f1e982740b3" /><Relationship Type="http://schemas.openxmlformats.org/officeDocument/2006/relationships/notesSlide" Target="/ppt/notesSlides/notesSlide16.xml" Id="Rf173a3b98e2a453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07a8498c549c5" /><Relationship Type="http://schemas.openxmlformats.org/officeDocument/2006/relationships/notesSlide" Target="/ppt/notesSlides/notesSlide17.xml" Id="R145baf2ab814435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d4ddfe22549a4" /><Relationship Type="http://schemas.openxmlformats.org/officeDocument/2006/relationships/notesSlide" Target="/ppt/notesSlides/notesSlide18.xml" Id="R4ad6b61a618943e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5BF8B6-78F4-4A3D-8924-6AC241DB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B8DC0-FD27-4CC2-A416-D7F838E0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7A004-F0A5-463F-9F0E-0FC9408E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rPr>
              <a:t>제목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B2694-7165-4C59-824E-1D10C094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CODE BLUE 보스전 PPO 1M 클리어 결과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1A612-A055-4EB5-B6C4-DF6CF900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4"/>
          </a:solidFill>
          <a:ln xmlns:a="http://schemas.openxmlformats.org/drawingml/2006/main" w="0">
            <a:solidFill>
              <a:srgbClr val="D6D0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4374C-C301-4A5D-A406-91EEB06E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E3648-75E7-47DD-B7B4-2D82CB14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rPr>
              <a:t>199회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2E01A-B233-4C46-A55E-B0387786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boss_dead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94328-44B6-47FF-BE97-54D8D989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240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11165-40DC-4D71-BFEC-A30EA798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7640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7A5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17A55"/>
                </a:solidFill>
                <a:latin typeface="Malgun Gothic"/>
                <a:ea typeface="Malgun Gothic"/>
                <a:cs typeface="Malgun Gothic"/>
              </a:rPr>
              <a:t>80%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2366A-3A58-483A-9CAA-FFC57BEC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383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최근 100 episode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12C7A9-BB9D-45BB-B3E2-C8B33CAC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240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8734A-315E-4DE9-BFF5-BFF5F08F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764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FA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F6FAD"/>
                </a:solidFill>
                <a:latin typeface="Malgun Gothic"/>
                <a:ea typeface="Malgun Gothic"/>
                <a:cs typeface="Malgun Gothic"/>
              </a:rPr>
              <a:t>97.3%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0B1E17-30DE-4013-AB9A-16DB7206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3835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최근 hit_rate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4DC57-86E7-4178-A656-9BA8066D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9880B-4D95-4090-9902-855AE735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764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884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B8842C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695202-9E8C-41C5-9B34-F037810B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383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leak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BE522D-75F9-46D1-A5DB-ADDB66A2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4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A95105-5709-4C19-BDD9-90610162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950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최종 run-id BossPPO_TargetGate_MarkATKObs_SweepHistory_1M_c84b1a4_v1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2C6E7C-9BCE-4ABE-B886-32665C79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7E987E-6A1F-44BD-9E06-4ADC9EB8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950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PPO-only 1M long-run 기준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07D97-E3A1-4DBB-B486-7B42C3C7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14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016B6C-8FA7-4C90-BED3-B31CEACC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950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visible observation 438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0D5D5A-0920-44B7-BE28-3DE4CD6C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1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359A28-FA07-4F92-A83F-7B458783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950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action spec [5,2]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428C36-4BF8-4B44-AAE3-E69810B0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EF5AD5-BD13-47BD-8A26-CC9291D6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950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무결성 leak 0 기준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0251F2-8989-471C-80B4-6E403F0A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CODE BLUE PPO 1M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786D68-03A7-4C07-B9BF-997B1141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416174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3F470A-334E-4E9D-B59F-42464632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472D2-2DD1-4FC0-9706-36104C53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D"/>
          </a:solidFill>
          <a:ln xmlns:a="http://schemas.openxmlformats.org/drawingml/2006/main" w="0">
            <a:solidFill>
              <a:srgbClr val="2F6FA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48736-6836-41BB-A7A9-3A04CFFA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rPr>
              <a:t>게임 소개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5E17D-F61E-4111-9282-C48DCC8C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격자 기반 보스전을 사람 입력 조건으로 학습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BD92B-C4DC-4516-A6CD-7F45BF10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4"/>
          </a:solidFill>
          <a:ln xmlns:a="http://schemas.openxmlformats.org/drawingml/2006/main" w="0">
            <a:solidFill>
              <a:srgbClr val="D6D0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90339-15DF-4DA5-9255-EDE41EF5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C42D5-F1C9-4101-B94B-9284CB90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811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게임명 CODE BLUE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EC810-F1E3-436B-AA36-FB30D550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087DA-602A-40EA-8CBA-FC649DC8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2D 격자 기반 액션 보스전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54E9B-F41E-4B82-8242-2AFA284B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7A80E-AA04-4F84-85E8-989BE86B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경고 타일 회피 후 공격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783D4-C08E-4F61-AC0F-36AC16E2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EB16C-3AF7-4DC9-8065-EB080600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이동 none up down left right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5AC97-612A-436B-B55A-A4A8FEFA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3E797E-EE34-48B7-AE68-98BBE348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공격 no attack attack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6E68A-B62A-47FC-BE30-42A78259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2BFD39-7680-4959-BA00-0AA921FC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목표 보스 HP 60 감소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805E9-2CCA-44B6-9F1B-D2DB96C8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CODE BLUE PPO 1M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54040-8F85-44B0-A18B-954C9BC4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107294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2B4712-ADDE-4548-B6D1-4011A1DD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CFD56-62C2-4D2B-AFD7-9DBB380D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86EA8-6F70-453E-A431-9E12ADB3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rPr>
              <a:t>보스 소개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5B864-BDE4-4758-94E4-73FD0B54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HP 기반 페이즈가 학습 난도를 만든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7C016-D1CB-4B3E-8C6E-B4AFB485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4"/>
          </a:solidFill>
          <a:ln xmlns:a="http://schemas.openxmlformats.org/drawingml/2006/main" w="0">
            <a:solidFill>
              <a:srgbClr val="D6D0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9B7DC-FD6E-4DB7-8074-0EBF1A08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DAE36-CCE0-42B2-9CA3-7886A0EF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811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보스 HP 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003B8-482E-4662-A174-797EFDF9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9DD64-115D-473B-A2DA-EAD5A31E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Phase 2 HP 42 이하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D87BC-5B53-4CB6-8D64-AAD35A60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5AF11-6674-40A9-B085-40AAB018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Phase 3 HP 24 이하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B313F-CA17-493F-9AFE-2B86970A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512E5-A282-41DB-B5D2-F2DB60D4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Final HP 6 이하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6F510-F22E-4280-9A23-F639FA81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B82E7-C0B8-4734-BECC-FA80A384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인접 시 방향 회전 후 경고 타일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3B45D-D0E0-4A3F-B117-DBC7DC81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E1907D-D0FB-4BAC-8D2A-0B4D7B17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회피 후 공격권 회복 필요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CD3D1-B75B-46ED-8FC9-1F26AF53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CODE BLUE PPO 1M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1F3045-0411-4DF3-804D-97AF233A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571335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DFF4E5-83CF-4D91-9D3B-FDCA9AFE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B4CCA-CD5F-4740-97EF-A1DEF525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D"/>
          </a:solidFill>
          <a:ln xmlns:a="http://schemas.openxmlformats.org/drawingml/2006/main" w="0">
            <a:solidFill>
              <a:srgbClr val="2F6FA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B9E02-9EA3-42D4-83C6-1F6771D2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rPr>
              <a:t>보스 패턴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A74EE-628A-466A-A4CA-D3140C7B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후반 패턴은 관측과 타격 타이밍을 동시에 요구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061E3-B789-4969-A150-B25DAADA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4"/>
          </a:solidFill>
          <a:ln xmlns:a="http://schemas.openxmlformats.org/drawingml/2006/main" w="0">
            <a:solidFill>
              <a:srgbClr val="D6D0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06A4F-45F2-40B9-990F-48C9BF0C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86BD5-A8B4-4A4C-A4D2-CC9B13DF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81150"/>
            <a:ext cx="969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1페이즈 X자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1F579-4934-40D7-AF3E-AEA42231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366E0-CC56-4018-ADE3-CFC80ED0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24050"/>
            <a:ext cx="969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1페이즈 NZ 및 역순 패턴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B00A7-1BE5-4B46-BA70-11C1C30D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CE458-82CC-46BE-ACE8-4DACA0E8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969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1페이즈 사각형 2칸 돌진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E93ED0-A597-4F3E-B02D-E890FE23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96EA06-B129-44C5-A229-47465332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969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1페이즈 십자 돌진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766A7-EE20-4820-8A70-41CF4EFC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A5E13-36B4-4092-BF36-DFEFD5C9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969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2페이즈 시계방향 4줄 돌진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A857F-B475-46C1-AADE-A4A681ED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F54CC5-1372-451A-BD3D-2CB4316F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969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3페이즈 MarkATK 표식 돌진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218131-00DB-47E9-988E-0A011384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EC0423-FE71-4C29-99DE-979D6BF4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969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Final 찍고 돌진 4회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C592D0-A6BA-458E-932C-E58BA23A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CODE BLUE PPO 1M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A56D5-5330-40D2-A4A4-3C3011AE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341947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F0EE79-F367-4E58-ABEE-2DEA06F5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ECC8C-1BF3-4AAD-AFE0-E980D9C0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E11D5-48F0-4598-8032-CA14DB11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rPr>
              <a:t>MDP 정의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BE6DB-732A-4BCA-985D-53F99F9D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위치와 위험 타일이 다음 의사결정을 구성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475C3-393D-4843-A7FF-5C2A86DE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4"/>
          </a:solidFill>
          <a:ln xmlns:a="http://schemas.openxmlformats.org/drawingml/2006/main" w="0">
            <a:solidFill>
              <a:srgbClr val="D6D0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5B26F-0DBD-42B8-92E5-EC5CAE38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A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6FAD"/>
                </a:solidFill>
                <a:latin typeface="Malgun Gothic"/>
                <a:ea typeface="Malgun Gothic"/>
                <a:cs typeface="Malgun Gothic"/>
              </a:rPr>
              <a:t>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855D6-558B-464F-A737-545395BC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9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D"/>
          </a:solidFill>
          <a:ln xmlns:a="http://schemas.openxmlformats.org/drawingml/2006/main" w="0">
            <a:solidFill>
              <a:srgbClr val="2F6FA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CB3A4-96FA-4FF8-880E-687F52AC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455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플레이어 위치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6E47D-956A-48E0-9229-50440917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D"/>
          </a:solidFill>
          <a:ln xmlns:a="http://schemas.openxmlformats.org/drawingml/2006/main" w="0">
            <a:solidFill>
              <a:srgbClr val="2F6FA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CB6B8-759A-41D7-81BF-3177F4D9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455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보스 위치 및 방향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64C7A-C438-4105-BFF8-F1E8D25E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33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D"/>
          </a:solidFill>
          <a:ln xmlns:a="http://schemas.openxmlformats.org/drawingml/2006/main" w="0">
            <a:solidFill>
              <a:srgbClr val="2F6F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DF5E7-06BC-4DB8-994C-1DEFA067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55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warning damage tile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EF3F7-1372-45EF-AD51-F25B813C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D"/>
          </a:solidFill>
          <a:ln xmlns:a="http://schemas.openxmlformats.org/drawingml/2006/main" w="0">
            <a:solidFill>
              <a:srgbClr val="2F6FA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D09D2-80B1-4FB4-934E-2C7B3A6A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455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MarkATK visible cue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CAE9D-309A-4EFF-8A5F-74EBDEEA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5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D"/>
          </a:solidFill>
          <a:ln xmlns:a="http://schemas.openxmlformats.org/drawingml/2006/main" w="0">
            <a:solidFill>
              <a:srgbClr val="2F6FA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885B6F-60B7-4D55-A967-D0E1C691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455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Phase2 sweep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35D5B-E2C7-41AF-8D5C-C830A861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4668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rPr>
              <a:t>Action Reward Termination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D4B167-1546-4026-AB79-4B4EA05C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09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945601-BE35-4968-9900-7A96ED1C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455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move [5]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52FC9E-158E-401E-919A-57200898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71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B1A3DE-2E10-4AFF-A054-29992F00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455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attack [2]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AC26D1-FAAC-461A-AB13-223D8662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33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528F47-6F77-45A8-BE7A-47AC421C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55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HP 감소 및 처치 보상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F295B0-902F-48B5-8E60-204D0E7D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95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EC0395-4807-4F9D-91B1-B06E6273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9900"/>
            <a:ext cx="455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피격 사망 위험 패널티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6BEA00-9271-4C6F-83E0-A916B14D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5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E333D0-A222-4596-BF85-701E0A87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71850"/>
            <a:ext cx="455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boss_dead player_dead timeout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A40E43-5CEC-4414-8FEF-AE896664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CODE BLUE PPO 1M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702E12-88E1-4584-9068-F744D690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887561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FD4EAC-9C82-462E-99B8-4F275041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36D28-4429-48C9-8958-2FCB3C98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D"/>
          </a:solidFill>
          <a:ln xmlns:a="http://schemas.openxmlformats.org/drawingml/2006/main" w="0">
            <a:solidFill>
              <a:srgbClr val="2F6FA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64F0D-75AE-4399-B652-AE14F788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rPr>
              <a:t>Observation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F2F86-68DA-4C76-BD62-0E8C9DCA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193차원 기본 관측을 438차원 visible cue로 확장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2B3D0-2D42-4E42-B559-5943BC16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4"/>
          </a:solidFill>
          <a:ln xmlns:a="http://schemas.openxmlformats.org/drawingml/2006/main" w="0">
            <a:solidFill>
              <a:srgbClr val="D6D0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8218B-DD9A-4C8A-ABFC-3FF679A9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5F379-B401-4D71-B1F5-ACD1D08D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811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기본 observation 193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95DDC-BCCE-4C02-803E-1419F720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27730-0D7F-40EC-9A0C-6D4753B2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MarkATK real visible mask 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204D9-8D8A-4F29-84CB-22FBA24B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0FA80D-4081-447C-B893-3E02CA6C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MarkATK fake visible mask 추가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57035-56DF-4347-9283-5036DAF7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4BFD3-A557-4CBE-BD26-D739B3C4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Phase2 sweep history 추가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0229C-6A1D-4B48-AF7A-99A2A861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8D05EF-1073-40C8-9EB6-E82F8B33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최종 observation size 438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8AC777-055B-42A6-9830-D79D52FD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100504-E0D0-44BC-89E5-14B70917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내부 next_band와 sweep index 직접 노출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25417E-D0A2-410D-8070-2389AE40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CODE BLUE PPO 1M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AB755-8E25-4640-940F-7C21E7CF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0266682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4D07A8-615E-4159-8F2B-BC963F0C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ED9E6-47B3-4321-A608-368E0BCB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99B4B-A042-4020-A847-07B49FB9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rPr>
              <a:t>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06A1E-668A-4DF7-AC2D-82F57F57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사람 조작에 가까운 [5,2] 분기 입력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03268-12F4-43D7-BA5E-20A9B467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4"/>
          </a:solidFill>
          <a:ln xmlns:a="http://schemas.openxmlformats.org/drawingml/2006/main" w="0">
            <a:solidFill>
              <a:srgbClr val="D6D0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BAC17-FAFD-4A10-B4BF-07CE5043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8F28A-FA76-48BB-9ED9-65F4B7C3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811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Branch 0 move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EAC65-F137-4661-B3E2-895C91E1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257C9-D5F3-4B97-817D-41A4440A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none up down left right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694E3-DA3F-4C54-907C-CB47AAE5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A862C-0E48-4B3B-A7FD-26F49DB7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Branch 1 attack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4F7EE-6CCD-4471-9F4F-6CA2D022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7D1DB-8CFE-4C62-AAD5-3B61A640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no attack attack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3D976-418C-4091-8A11-6F0E0072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0D562-37FE-4A80-BCB4-1C6DDA30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이동과 공격을 같은 decision에서 표현 가능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6C09E9-3AE1-4FD3-A397-C73510C9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5A186-8D69-4575-B9AC-20B5B910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불가능 이동과 비정상 공격은 mask로 차단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34D723-FCAD-4CC2-A8B0-0F409DEC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CODE BLUE PPO 1M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FD3D8D-2B2B-4E3E-883B-4F4D33FE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665657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632DC8-1A75-4951-B404-C88416C2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2F737-603B-4277-B5D4-12818164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D"/>
          </a:solidFill>
          <a:ln xmlns:a="http://schemas.openxmlformats.org/drawingml/2006/main" w="0">
            <a:solidFill>
              <a:srgbClr val="2F6FA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65297-C5A2-4CC2-A173-CC326B2C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rPr>
              <a:t>Reward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EE512-44D3-41D3-B23B-4311129A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공격 시도 보상 제거 후 실제 적중 중심으로 정리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4705F-1770-431E-BEDE-C2C2D31B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4"/>
          </a:solidFill>
          <a:ln xmlns:a="http://schemas.openxmlformats.org/drawingml/2006/main" w="0">
            <a:solidFill>
              <a:srgbClr val="D6D0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9BB83-A28B-4C05-BC57-E6A1A48A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581A8-52E5-4591-8CB3-B631453F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81150"/>
            <a:ext cx="969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공격 시도 자체 보상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83AAE-98D6-407F-87C0-B8658C0B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9E611-890D-428E-AD65-8D98DF6B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24050"/>
            <a:ext cx="969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보스 HP 감소 보상 +0.10 per HP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92801-79FC-4ACA-8CC4-F11CEA12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78D2E-4EF3-42F5-AB18-D4A0FB5E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969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성공 hit 보상 +0.08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BC10C-5772-4AD8-BD87-DFBABB2A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6C8B0-9CE0-4ACF-9A37-05784551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969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boss_dead 보상 +5.0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E0923D-3ED0-4686-A713-E9860AD4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B6B36-8089-4AC8-8A2B-5B4FBE1A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969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player_hit 패널티 -2.0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CC5A2-1E83-4AA2-A0D9-2F3DA8C2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B5422A-6972-4D48-934E-BFA5C6D4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969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player_dead 패널티 -8.0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E232B-9BB6-455F-B3C9-6A48C41E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3BCCCA-4AE2-4A12-BD26-0F4FFD26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969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fast-clear reward 미적용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89FF40-FB6F-40EF-B998-A4890182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CODE BLUE PPO 1M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40607F-902F-4B1E-8E63-3539BC73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824082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D787C1-6121-46D4-9546-053B072E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B1EB2-3E0F-43F5-A83B-B9E325A4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6309D-1B30-4AC4-9F90-1EDFB6E7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rPr>
              <a:t>PPO 기법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4D59A-91D3-4DD0-97BA-39066A7A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PPO와 action masking으로 순차 전투 정책 학습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6FD23-5736-4578-8873-36153F50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4"/>
          </a:solidFill>
          <a:ln xmlns:a="http://schemas.openxmlformats.org/drawingml/2006/main" w="0">
            <a:solidFill>
              <a:srgbClr val="D6D0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30145-63CF-4A86-80D4-9CF43FE3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F0009-2FFA-4152-8B09-154A16AA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811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ML-Agents PPO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E4D96-8F75-4875-A905-C5AAE7DE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8BCD6-B4EF-4BE0-86CC-021AD1AC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policy gradient 기반 안정적 학습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FCE04-3888-4E61-8018-7E6A6A4C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82AFA-AE80-43E0-951F-A3EBB4F4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discrete action 학습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8824D-B60A-41A6-8F57-1B4CDF45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0CE3AC-EFFF-4619-8274-8DF2D40A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hidden target 공격 차단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F45E03-ECE3-4E12-96FD-01480C25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BF1CB-BB1C-4201-8BC6-10F9D492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off-lane stale target 공격 차단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12AD5-81DE-479A-AD87-988B7517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9D6CC5-6C01-4E4E-B292-13CF861C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visible observation 중심 설계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61801A-31DD-4E8D-A779-6F1B87A2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CODE BLUE PPO 1M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05538B-F02D-46CE-BA11-6070CEC6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5869821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59F911-D1DA-474F-BDFF-A3A1D019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DCCA9-7703-414C-88FB-26328E2D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D"/>
          </a:solidFill>
          <a:ln xmlns:a="http://schemas.openxmlformats.org/drawingml/2006/main" w="0">
            <a:solidFill>
              <a:srgbClr val="2F6FA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0EE22-96CC-4EAD-9D48-F3191389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rPr>
              <a:t>단기 PPO 실패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D0673-0A78-467E-BE40-3D81049B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50K에서는 생존 중심 local optimum 발생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BDDB0-2C0F-4343-A2B0-6DFC500D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4"/>
          </a:solidFill>
          <a:ln xmlns:a="http://schemas.openxmlformats.org/drawingml/2006/main" w="0">
            <a:solidFill>
              <a:srgbClr val="D6D0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862B4-B579-4CE0-8C9A-3DC04124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FBA9D-362F-4BA6-83ED-BEEE6614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811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클리어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10A15-07A0-41F9-9ECC-BB28FF52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38487-2CB1-458B-AFC4-AD3B10DE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boss_damage 낮음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7D019-0F9A-4E7B-BF04-F2902D1D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7DA73-2301-4EC1-B116-69F3B31B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in_range 약 10퍼센트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D68F6-48C7-4A09-AB06-56A0E5FA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85526-F3EB-49BA-8BD2-FACF1158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공격권 회복 실패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5A4C4-EB76-4E94-8E5E-3F97B6BA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39AEA-C811-4814-9EFE-A7C66754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피격 및 사망 반복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56BDAD-A166-46B9-B9F9-FA06A243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675D56-F74C-4EDA-AF41-D4C7CE02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PPO-only 불가능 결론 아님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9159D7-FAB8-4609-BCA0-EC439616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CODE BLUE PPO 1M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EC3CA5-50E9-4758-B18B-ABC0AA55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651367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1A1A0E-4A34-40A7-8593-881AA6DC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5D209-17C2-4C41-8602-B58D0821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6A499-C126-46C7-A3C6-9361F008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rPr>
              <a:t>1M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6FE07-06D0-4162-982F-A8C8C82D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1M long-run에서 최근 100 episode 80퍼센트 클리어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94C65-B474-46E3-B19F-A7F3C852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4"/>
          </a:solidFill>
          <a:ln xmlns:a="http://schemas.openxmlformats.org/drawingml/2006/main" w="0">
            <a:solidFill>
              <a:srgbClr val="D6D0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0DA8D-4CEB-48B6-B9D1-8806ADF1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F12B6-C9D6-4C22-A39C-67A7556B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rPr>
              <a:t>199회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F082A-84C3-4C4C-91D5-E36FD471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boss_dead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0470C-5D03-499B-8313-CB3E7D2F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240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18C2A-0BDA-4F18-88BE-7A4670EE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764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7A5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17A55"/>
                </a:solidFill>
                <a:latin typeface="Malgun Gothic"/>
                <a:ea typeface="Malgun Gothic"/>
                <a:cs typeface="Malgun Gothic"/>
              </a:rPr>
              <a:t>22.3%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F57A4-A201-4BFE-99F7-D3EEED1A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3835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전체 클리어율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AA5F4-21AB-42CC-A3D4-1BA4CF2C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24000"/>
            <a:ext cx="228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739E6-B5A7-4E70-BF15-146FC729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67640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7A5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17A55"/>
                </a:solidFill>
                <a:latin typeface="Malgun Gothic"/>
                <a:ea typeface="Malgun Gothic"/>
                <a:cs typeface="Malgun Gothic"/>
              </a:rPr>
              <a:t>80%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5F658-8667-4783-B526-7FA029D5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383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최근 100 클리어율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B080D-BF9C-463E-B4FF-C6764F72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D1AF6-F79F-485C-9E83-0D1F9A61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76400"/>
            <a:ext cx="2171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FA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F6FAD"/>
                </a:solidFill>
                <a:latin typeface="Malgun Gothic"/>
                <a:ea typeface="Malgun Gothic"/>
                <a:cs typeface="Malgun Gothic"/>
              </a:rPr>
              <a:t>40.8 / 59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36474A-502F-4674-BBDF-DC7C8367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3835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boss_damage avg max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5311F6-C4AA-4892-98F1-7A2DD420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최근 hit_rate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CD79D3-B331-4AEB-8529-E24839EE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00400"/>
            <a:ext cx="3810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DD1"/>
          </a:solidFill>
          <a:ln xmlns:a="http://schemas.openxmlformats.org/drawingml/2006/main" w="0">
            <a:solidFill>
              <a:srgbClr val="E3DD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0026F2-205F-4A24-A710-875BBC6F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00400"/>
            <a:ext cx="370713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55"/>
          </a:solidFill>
          <a:ln xmlns:a="http://schemas.openxmlformats.org/drawingml/2006/main" w="0">
            <a:solidFill>
              <a:srgbClr val="317A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5A1190-3758-46EA-B516-1E163D5D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최근 in_range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981D9E-3104-4B6B-B166-A9B2E7FE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0"/>
            <a:ext cx="3810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DD1"/>
          </a:solidFill>
          <a:ln xmlns:a="http://schemas.openxmlformats.org/drawingml/2006/main" w="0">
            <a:solidFill>
              <a:srgbClr val="E3DD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A3705E-3C7A-4A86-83F2-E824D89D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0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D"/>
          </a:solidFill>
          <a:ln xmlns:a="http://schemas.openxmlformats.org/drawingml/2006/main" w="0">
            <a:solidFill>
              <a:srgbClr val="2F6FA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D1B83C-6FBB-4FDC-AB30-ECC5B37D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player_hit 감소 기준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2FD10A-C916-4E94-84E4-24199233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38600"/>
            <a:ext cx="3810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DD1"/>
          </a:solidFill>
          <a:ln xmlns:a="http://schemas.openxmlformats.org/drawingml/2006/main" w="0">
            <a:solidFill>
              <a:srgbClr val="E3DDD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BEB115-AA08-491C-B66D-DF2C7689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38600"/>
            <a:ext cx="1409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639A38-1996-4D58-AD7F-D475EE7A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81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2C"/>
          </a:solidFill>
          <a:ln xmlns:a="http://schemas.openxmlformats.org/drawingml/2006/main" w="0">
            <a:solidFill>
              <a:srgbClr val="B8842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1A5BC0-A344-4FCC-86D4-3D72155B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95650"/>
            <a:ext cx="3790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평균 클리어 시간 70.0초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C5973F-FAF4-4D12-9B3A-D30383F0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4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2C"/>
          </a:solidFill>
          <a:ln xmlns:a="http://schemas.openxmlformats.org/drawingml/2006/main" w="0">
            <a:solidFill>
              <a:srgbClr val="B8842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5BE429-7344-4238-95F5-3FAF37C0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3790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최속 클리어 시간 42.6초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626909-803E-4A4E-B105-51752204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05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2C"/>
          </a:solidFill>
          <a:ln xmlns:a="http://schemas.openxmlformats.org/drawingml/2006/main" w="0">
            <a:solidFill>
              <a:srgbClr val="B8842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D658DA-A328-493D-8A37-7976DD91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19550"/>
            <a:ext cx="3790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MarkATK observed 15,309회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5BBA3A-109A-4990-8C13-E7F083E8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67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2C"/>
          </a:solidFill>
          <a:ln xmlns:a="http://schemas.openxmlformats.org/drawingml/2006/main" w="0">
            <a:solidFill>
              <a:srgbClr val="B8842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C176BD-7C0D-4AE4-8721-E5DB660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81500"/>
            <a:ext cx="3790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attack_out_of_range 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AE742C-EE8B-41B4-AB28-ADB02EC8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29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2C"/>
          </a:solidFill>
          <a:ln xmlns:a="http://schemas.openxmlformats.org/drawingml/2006/main" w="0">
            <a:solidFill>
              <a:srgbClr val="B8842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76929B-6411-4D59-99DB-A2A2A158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43450"/>
            <a:ext cx="3790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hidden off-lane stale hit 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C874A2-2902-41C3-8BBE-095DC846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CODE BLUE PPO 1M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91074A-C08C-4028-8861-1BF725BE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7913097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3517F8-667B-49B3-BB91-FEB5348E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92791-49BA-4502-837A-19C53FA7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D"/>
          </a:solidFill>
          <a:ln xmlns:a="http://schemas.openxmlformats.org/drawingml/2006/main" w="0">
            <a:solidFill>
              <a:srgbClr val="2F6FA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8ABA5-53A6-4A3D-87C1-3AFF89BC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rPr>
              <a:t>LTS vs main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3C6FF-38FC-4ADC-8926-D31DA72F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LTS는 속도 중심 main은 사람 조건 충실도 중심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73506-DD42-4065-84CA-1A439546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4"/>
          </a:solidFill>
          <a:ln xmlns:a="http://schemas.openxmlformats.org/drawingml/2006/main" w="0">
            <a:solidFill>
              <a:srgbClr val="D6D0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9FB62-6B6E-4B2A-AB40-1AD3078A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6"/>
          </a:solidFill>
          <a:ln xmlns:a="http://schemas.openxmlformats.org/drawingml/2006/main" w="0">
            <a:solidFill>
              <a:srgbClr val="2B2F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AFEB8-94DF-48F5-B99F-6385D3E8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98D38-D2DB-4FD7-BD97-80CE8047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8115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6"/>
          </a:solidFill>
          <a:ln xmlns:a="http://schemas.openxmlformats.org/drawingml/2006/main" w="0">
            <a:solidFill>
              <a:srgbClr val="2B2F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41CE4-2E7C-4FDE-8470-C30704DD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57350"/>
            <a:ext cx="3562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897A2-9E1D-445A-8BAD-8B39823A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811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6"/>
          </a:solidFill>
          <a:ln xmlns:a="http://schemas.openxmlformats.org/drawingml/2006/main" w="0">
            <a:solidFill>
              <a:srgbClr val="2B2F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6ABF3-C16E-4CCE-ACF2-4FC0BF6A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57350"/>
            <a:ext cx="3943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57F21-599C-4A81-8997-3B40FE11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14C0A-C564-4119-80A9-B11361B3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action spec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73747-F49A-4B1A-9B51-C1E6A79B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5740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F7CC6-008C-4D00-92B0-D1FDA70B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33600"/>
            <a:ext cx="3562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[6]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A34271-A3F9-464B-A684-546277D5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DA085-CBD6-482C-970A-1B8945BE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33600"/>
            <a:ext cx="3943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[5,2]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861E12-DDB5-478E-A915-A542D3A2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3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861ABA-C852-4175-95C8-AB87B588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observation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5A509-C74C-4046-990E-0F0B6E9E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3365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3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234AAB-4EB0-4FE8-A6A2-83028738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09850"/>
            <a:ext cx="3562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193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2C25B9-C78C-4D51-AC63-FCCE4DB8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3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2420BA-0A83-4D95-BE11-1C2B09E7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09850"/>
            <a:ext cx="3943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438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CA309E-6558-4A3E-AA41-10ACA783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BFA453-AC6F-40F3-8CD6-7922570E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reward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0C25DB-654D-4372-A780-C8C19E01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0990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392B07-7B95-4CF7-B3E8-E4C80C96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86100"/>
            <a:ext cx="3562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강한 damage reward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7AC47B-52CA-4455-9DF7-A6A9F8E6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099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593604-639F-499B-B98C-579F9C1D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86100"/>
            <a:ext cx="3943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hit-gated reward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064613-999E-44B9-8435-1DF32534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3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7BEB45-7C82-4A9E-ADF6-35F4CF62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fast-clear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677881-6700-4517-B4F3-50C7D60B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8615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3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6D39D1-C68B-4608-9E46-D7BF7AEA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62350"/>
            <a:ext cx="3562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존재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E54D7D-C092-41B0-B4AB-FBD8556D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861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3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32736B-5394-4156-A128-DEFFF698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62350"/>
            <a:ext cx="3943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미적용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FD6776-B1FE-45FC-8C7A-F9B102AE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214BE2-D46E-43C2-BDA8-F1873238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특징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06DC4D-003A-4995-9E71-59AE29CC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96240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EE4B62-E57E-4A07-89C1-CC9843B9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38600"/>
            <a:ext cx="3562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빠른 클리어 중심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04EB01-3124-4C08-AFEA-E3FFAFB7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624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864A93-A4DA-4584-96AC-ED1C358A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38600"/>
            <a:ext cx="3943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사람 조건 충실도 중심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CD01B6-9F99-4E4F-BAC4-990F1762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3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F71FE4-E9A4-48CE-A8CD-ADF492F5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결론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96ACDF-E316-4296-9F4D-D13F3D8D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3865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3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5E0352-9BFD-40C2-B681-5439D043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14850"/>
            <a:ext cx="3562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속도 레시피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90930E-CC33-427B-BFE2-B8B9F24F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386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3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EFA4DC-1B2E-400E-A51F-F6298109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14850"/>
            <a:ext cx="3943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PPO-only 1M 성공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520FC4-6F60-4BFE-B05D-2AD9BF5C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CODE BLUE PPO 1M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60DE2B-D5E7-48D8-8AE7-665937B0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472283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F47662-9DD2-4179-91C2-FD1C52D7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D51C2-2295-4635-9362-277D0325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C5258-6F96-4F39-971E-5F46D1A9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rPr>
              <a:t>영상 1 초기 정책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14B11-1ED0-43E9-8BCA-D62719D9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초기 정책은 낮은 damage와 공격권 회복 실패를 보여줌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3D058-64C6-4143-B67E-7E19D234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4"/>
          </a:solidFill>
          <a:ln xmlns:a="http://schemas.openxmlformats.org/drawingml/2006/main" w="0">
            <a:solidFill>
              <a:srgbClr val="D6D0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9210B-5645-4225-9F4E-773438B5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822AB-4A58-4044-8B18-6ACE757F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81150"/>
            <a:ext cx="969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파일 videos/01_initial_policy.mp4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8ECB6-A6D0-4172-8D3B-7C209AF6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8CB68-75EA-4B59-B24B-1A89C847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24050"/>
            <a:ext cx="969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로그 기반 분석형 보조 영상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F63E3-EAF2-4537-AAEA-68B2C62F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B3CAC-F03A-496D-8F4F-538D3811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969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학습 초반 정책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8EB20-D6C2-495E-B927-333B4675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790D38-8DAD-4BE2-BD86-993D4EFA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969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낮은 boss damage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B92846-8F55-4DE0-9B61-DFC3D4E6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179B99-C071-42F9-97DD-AA909B9C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969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피격 및 사망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A10D9-E547-4918-B4B0-1669DC22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FD9FD-C362-4081-A09B-EED5AC16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969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공격권 회복 실패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E68FE-8A3D-49E4-A0CA-A7ED4379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BDA9D-9BFE-43A3-8D62-61749D9C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969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gameplay 재라벨링 없음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B2A4E7-D32E-4CDD-AB89-0F161D6B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CODE BLUE PPO 1M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C7E772-3B61-4DCB-8841-C79F0A49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9601852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A2B5F7-29C5-4BE6-98D8-9CDA6F90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8F116-9443-489F-AB70-70D75E06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D"/>
          </a:solidFill>
          <a:ln xmlns:a="http://schemas.openxmlformats.org/drawingml/2006/main" w="0">
            <a:solidFill>
              <a:srgbClr val="2F6FA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2CFBE-583A-4150-A233-8821E891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rPr>
              <a:t>영상 2 학습 진행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1611F-A9D7-45AA-A9AF-B522F543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checkpoint별 정책 변화로 long-run 효과를 제시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C512B-6140-41CC-8B95-28407A28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4"/>
          </a:solidFill>
          <a:ln xmlns:a="http://schemas.openxmlformats.org/drawingml/2006/main" w="0">
            <a:solidFill>
              <a:srgbClr val="D6D0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593F4-F276-4E83-B3AB-BA42C80D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16303-FE32-42B8-BE34-2080F4AA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811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파일 videos/02_learning_progression.mp4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E9B47-1277-48A1-96FB-73B26830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1D423-BE96-4795-A56A-2E0CF084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checkpoint reward 및 그래프 기반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7134F-8AAE-4574-9D06-9D47527F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65BC1-1E91-48D9-B333-B30CD843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hit_rate 상승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A5192-F211-49DA-AA11-422C4F6B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CB41C7-4140-44A1-9547-E4D068D0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in_range 증가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00BAD-5030-4E80-85A4-C631A3CD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3257A-F897-4F03-8051-31D3E06D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boss damage 증가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37EA4-C1D4-4381-AE2A-0A0F39FB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9B3BF-E0E6-4FFE-8572-90F1ED41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최종 정책으로 수렴하는 흐름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AA52A7-30A9-45DB-964F-0CFDED4F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CODE BLUE PPO 1M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527F6C-913E-43BC-8F5B-09FB5893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9318931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BA382F-1F26-4E0D-A1ED-35BAB8E9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C74F3-466B-4646-A6ED-88FBFCB6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47A71-F817-4142-8DD9-A4F600DD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rPr>
              <a:t>영상 3 클린 클리어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80132-29FE-49D6-9B56-C462A1B1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발표 핵심 영상은 leak 0 근거와 함께 사용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9939C-768C-4FF9-A90D-A3725F25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4"/>
          </a:solidFill>
          <a:ln xmlns:a="http://schemas.openxmlformats.org/drawingml/2006/main" w="0">
            <a:solidFill>
              <a:srgbClr val="D6D0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E2EC5-9BFE-43D5-8B73-673611BF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2B998-5D3A-454B-824E-66CDD199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811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파일 videos/03_clean_human_like_clear_all_patterns.mp4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2A164-2B03-4606-BC5C-5002BC77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5C9ED-E952-40E5-A742-CD6241DA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Phase2 Phase3 Final 포함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4B6AC-6018-42E1-B8E8-275A0158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836BF-F5D4-4A00-A3B7-53F8C0B3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visible target 기반 정상 타격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B6BAB-A1E8-4844-A168-83CC64A9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F7418-0AE5-4097-BC50-27592D63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exploit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5C356B-C8D7-4CE0-81BC-8975F8ED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1AA6D-7BAF-421B-A30F-CBEDC47D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attack_out_of_range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503D5A-4A2F-49E3-8BBD-D4CA9D67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D482BF-9193-4DA5-BB48-F1A3B74E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hidden off-lane stale hit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85EFD7-07A0-4C90-AEC1-84171DD5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CODE BLUE PPO 1M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D93DAE-FE89-4538-B099-B3522DFC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1953585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5F2569-8DE0-434F-951A-7BECD629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023AD-35C5-40EB-A8B3-AA345973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D"/>
          </a:solidFill>
          <a:ln xmlns:a="http://schemas.openxmlformats.org/drawingml/2006/main" w="0">
            <a:solidFill>
              <a:srgbClr val="2F6FA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5ABE2-0D92-4F44-A3EA-B71ACE66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rPr>
              <a:t>영상 4 유효한 특이 행동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99E25-8BA4-42F9-B19E-9F444052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꼼수처럼 보여도 규칙상 정상인 edge behavior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B67E1-0E8A-4FE3-BDD7-A1EBC9B2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4"/>
          </a:solidFill>
          <a:ln xmlns:a="http://schemas.openxmlformats.org/drawingml/2006/main" w="0">
            <a:solidFill>
              <a:srgbClr val="D6D0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D460F-DD09-400F-98BC-3CD8500A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663D8-C626-4507-9E79-E707A6F4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811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파일 videos/04_clever_valid_policy_behavior.mp4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2DE43-BAC6-446F-A809-2409068F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5813B-A3D1-4B87-B6F4-AF86B849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root_visible_overlap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333CE-E3F3-40BF-90A2-575A0EA7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3AC79-6734-42C6-BD16-EE6EDAB3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dash_current_overlap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820D4-B18D-4E64-AE5B-7773314C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03DF4-D743-4285-9EDB-257EF6CA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warning edge 운영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46480A-E722-4DAF-BE06-E82511DD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88035-7E2E-4070-AD65-484369FE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현재 target gate 기준 정상 행동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CE9D4-6B02-46B0-896D-616822E0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838CA0-D6D6-4F2D-A352-DEF1CF56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bug 또는 exploit로 명명 금지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C7D9A2-637D-4CD8-9FA0-BFCAF24D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CODE BLUE PPO 1M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C50105-888F-4DBF-BFF8-3E25EB3D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2147526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A38A4B-C02B-4C58-8C1D-92AC9621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CFC13-2EFD-4D92-9567-7512317D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BEB59-A9F2-4F7B-80D9-5C571749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rPr>
              <a:t>영상 5 이상 행동 사례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9D8EA-4636-45D1-A57A-6AB0675A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성공 근거가 아니라 한계와 제외 사례로 배치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05668-B126-4504-9201-DB6E770C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4"/>
          </a:solidFill>
          <a:ln xmlns:a="http://schemas.openxmlformats.org/drawingml/2006/main" w="0">
            <a:solidFill>
              <a:srgbClr val="D6D0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D23C4-2501-45BF-8823-4AEA7412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40F28-F701-47C5-8869-D0A4A55D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811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파일 videos/05_bug_or_abnormal_case_excluded.mp4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81F2A-1629-412A-B924-49EACFE7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FF78A-D363-4013-853B-D1E4594B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실제 leak 확인 시 bug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270DD-91BB-4968-91BD-DDB607D4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5DE14-5E6B-423D-BBAE-29BF754E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leak 0이면 abnormal-looking but valid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3EC2E-7356-498C-BAF5-02F39EEA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7E288-BD5D-4165-A210-F4FEEDD2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성공 결과로 사용하지 않음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76589-571A-40F4-8688-EDC90CF2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33F45D-51DC-4570-BDDF-5BE70E3B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비교 및 주의점 설명용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85442-1F4A-4A11-9C3F-495F6D2C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60420D-C0AE-485A-A6D8-CCE6D259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bug case 명명 금지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24D409-3069-4994-B73B-BA38631B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CODE BLUE PPO 1M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B8FCC0-91DF-4A33-87F0-419CBEF2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1943402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D42AD9-B29C-4FBA-91EB-CD0022D6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3A192-E660-4093-AF94-1DA58F8D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D"/>
          </a:solidFill>
          <a:ln xmlns:a="http://schemas.openxmlformats.org/drawingml/2006/main" w="0">
            <a:solidFill>
              <a:srgbClr val="2F6FA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A4B01-FBB6-4450-831D-8F83ED48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44536"/>
                </a:solidFill>
                <a:latin typeface="Malgun Gothic"/>
                <a:ea typeface="Malgun Gothic"/>
                <a:cs typeface="Malgun Gothic"/>
              </a:rPr>
              <a:t>결론 및 향후 개선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ED417-0668-4958-8712-B621A93B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PPO-only는 가능하며 fast-clear는 별도 브랜치 실험 대상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F7211-B8FE-424A-B8A2-DBFC9C9E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4"/>
          </a:solidFill>
          <a:ln xmlns:a="http://schemas.openxmlformats.org/drawingml/2006/main" w="0">
            <a:solidFill>
              <a:srgbClr val="D6D0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C2CD1-4DB6-4263-8EC5-6C99D464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E0EA1-9E54-4FE1-B556-9C863570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811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50K 단기 학습은 생존 중심 local optimum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9CE14-CDD7-4760-A16C-F631E164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6C864-05B0-4DA0-AB59-54B4930C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1M long-run에서 클린 클리어 정책 학습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1E61A-B31C-4AED-B449-D05C04B3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548E7-9959-4B33-88E0-143C3C40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main은 visible observation과 사람 입력 조건 기반 성공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F5E206-75F8-4A4F-AF7E-8349E4F2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65D005-6209-4CEB-9C56-089E8256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BC/demo는 현재 필수 아님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E8E6D-6250-4946-B873-41B8F1D0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C445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3D9EA-B9BA-41AF-8873-17ACAF9D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fast-clear reward는 별도 브랜치 권장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12D5E7-688C-49EC-B0BF-465E80E1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CODE BLUE PPO 1M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EA86A-B2A4-4A13-BFF5-8496CF51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84411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2026-06-02T19:07:06.0750000Z</dcterms:created>
  <dcterms:modified xsi:type="dcterms:W3CDTF">2026-06-02T19:07:06.0750000Z</dcterms:modified>
</coreProperties>
</file>