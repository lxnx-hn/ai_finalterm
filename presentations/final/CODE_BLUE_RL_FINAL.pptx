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3720ef213b14ec4" /><Relationship Type="http://schemas.openxmlformats.org/officeDocument/2006/relationships/extended-properties" Target="/docProps/app.xml" Id="R344ec5be8e3e4083" /><Relationship Type="http://schemas.openxmlformats.org/officeDocument/2006/relationships/officeDocument" Target="/ppt/presentation.xml" Id="R99a6c3c5805946c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77258b4798847fc"/>
  </p:sldMasterIdLst>
  <p:notesMasterIdLst>
    <p:notesMasterId xmlns:r="http://schemas.openxmlformats.org/officeDocument/2006/relationships" r:id="R809520bc38eb4cfd"/>
  </p:notesMasterIdLst>
  <p:sldIdLst>
    <p:sldId xmlns:r="http://schemas.openxmlformats.org/officeDocument/2006/relationships" id="256" r:id="Rcbb1fc2ea9464dcc"/>
    <p:sldId xmlns:r="http://schemas.openxmlformats.org/officeDocument/2006/relationships" id="257" r:id="R38f2fa8f4fbd46f0"/>
    <p:sldId xmlns:r="http://schemas.openxmlformats.org/officeDocument/2006/relationships" id="258" r:id="R31b863f149ee4db2"/>
    <p:sldId xmlns:r="http://schemas.openxmlformats.org/officeDocument/2006/relationships" id="259" r:id="R7124f58081db45ce"/>
    <p:sldId xmlns:r="http://schemas.openxmlformats.org/officeDocument/2006/relationships" id="260" r:id="Rc46acb41c49a404c"/>
    <p:sldId xmlns:r="http://schemas.openxmlformats.org/officeDocument/2006/relationships" id="261" r:id="R9d7a31258c944f40"/>
    <p:sldId xmlns:r="http://schemas.openxmlformats.org/officeDocument/2006/relationships" id="262" r:id="R2a89285ad82c4d2a"/>
    <p:sldId xmlns:r="http://schemas.openxmlformats.org/officeDocument/2006/relationships" id="263" r:id="Ra594454abc73434b"/>
    <p:sldId xmlns:r="http://schemas.openxmlformats.org/officeDocument/2006/relationships" id="264" r:id="Re428085b38fb472b"/>
    <p:sldId xmlns:r="http://schemas.openxmlformats.org/officeDocument/2006/relationships" id="265" r:id="R950fdfbf76cb4cd8"/>
    <p:sldId xmlns:r="http://schemas.openxmlformats.org/officeDocument/2006/relationships" id="266" r:id="R11db998d4176483e"/>
    <p:sldId xmlns:r="http://schemas.openxmlformats.org/officeDocument/2006/relationships" id="267" r:id="Reb4866d716fc4420"/>
    <p:sldId xmlns:r="http://schemas.openxmlformats.org/officeDocument/2006/relationships" id="268" r:id="R6ef5e63994174730"/>
    <p:sldId xmlns:r="http://schemas.openxmlformats.org/officeDocument/2006/relationships" id="269" r:id="Rbfc16a69c887469b"/>
    <p:sldId xmlns:r="http://schemas.openxmlformats.org/officeDocument/2006/relationships" id="270" r:id="Rc343ee0345dd4034"/>
    <p:sldId xmlns:r="http://schemas.openxmlformats.org/officeDocument/2006/relationships" id="271" r:id="Rd04c0f74f09b4bc5"/>
    <p:sldId xmlns:r="http://schemas.openxmlformats.org/officeDocument/2006/relationships" id="272" r:id="Rc2ceaa96f66c430b"/>
    <p:sldId xmlns:r="http://schemas.openxmlformats.org/officeDocument/2006/relationships" id="273" r:id="R7762018366ef4ff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3e584ae806840f3" /><Relationship Type="http://schemas.openxmlformats.org/officeDocument/2006/relationships/slideMaster" Target="/ppt/slideMasters/slideMaster1.xml" Id="Rf77258b4798847fc" /><Relationship Type="http://schemas.openxmlformats.org/officeDocument/2006/relationships/notesMaster" Target="/ppt/notesMasters/notesMaster1.xml" Id="R809520bc38eb4cfd" /><Relationship Type="http://schemas.openxmlformats.org/officeDocument/2006/relationships/presProps" Target="/ppt/presProps.xml" Id="R56d336faf0e94ad6" /><Relationship Type="http://schemas.openxmlformats.org/officeDocument/2006/relationships/viewProps" Target="/ppt/viewProps.xml" Id="R71be1205c481414a" /><Relationship Type="http://schemas.openxmlformats.org/officeDocument/2006/relationships/tableStyles" Target="/ppt/tableStyles.xml" Id="Ra65bd36b2cba45c6" /><Relationship Type="http://schemas.openxmlformats.org/officeDocument/2006/relationships/slide" Target="/ppt/slides/slide1.xml" Id="Rcbb1fc2ea9464dcc" /><Relationship Type="http://schemas.openxmlformats.org/officeDocument/2006/relationships/slide" Target="/ppt/slides/slide2.xml" Id="R38f2fa8f4fbd46f0" /><Relationship Type="http://schemas.openxmlformats.org/officeDocument/2006/relationships/slide" Target="/ppt/slides/slide3.xml" Id="R31b863f149ee4db2" /><Relationship Type="http://schemas.openxmlformats.org/officeDocument/2006/relationships/slide" Target="/ppt/slides/slide4.xml" Id="R7124f58081db45ce" /><Relationship Type="http://schemas.openxmlformats.org/officeDocument/2006/relationships/slide" Target="/ppt/slides/slide5.xml" Id="Rc46acb41c49a404c" /><Relationship Type="http://schemas.openxmlformats.org/officeDocument/2006/relationships/slide" Target="/ppt/slides/slide6.xml" Id="R9d7a31258c944f40" /><Relationship Type="http://schemas.openxmlformats.org/officeDocument/2006/relationships/slide" Target="/ppt/slides/slide7.xml" Id="R2a89285ad82c4d2a" /><Relationship Type="http://schemas.openxmlformats.org/officeDocument/2006/relationships/slide" Target="/ppt/slides/slide8.xml" Id="Ra594454abc73434b" /><Relationship Type="http://schemas.openxmlformats.org/officeDocument/2006/relationships/slide" Target="/ppt/slides/slide9.xml" Id="Re428085b38fb472b" /><Relationship Type="http://schemas.openxmlformats.org/officeDocument/2006/relationships/slide" Target="/ppt/slides/slide10.xml" Id="R950fdfbf76cb4cd8" /><Relationship Type="http://schemas.openxmlformats.org/officeDocument/2006/relationships/slide" Target="/ppt/slides/slide11.xml" Id="R11db998d4176483e" /><Relationship Type="http://schemas.openxmlformats.org/officeDocument/2006/relationships/slide" Target="/ppt/slides/slide12.xml" Id="Reb4866d716fc4420" /><Relationship Type="http://schemas.openxmlformats.org/officeDocument/2006/relationships/slide" Target="/ppt/slides/slide13.xml" Id="R6ef5e63994174730" /><Relationship Type="http://schemas.openxmlformats.org/officeDocument/2006/relationships/slide" Target="/ppt/slides/slide14.xml" Id="Rbfc16a69c887469b" /><Relationship Type="http://schemas.openxmlformats.org/officeDocument/2006/relationships/slide" Target="/ppt/slides/slide15.xml" Id="Rc343ee0345dd4034" /><Relationship Type="http://schemas.openxmlformats.org/officeDocument/2006/relationships/slide" Target="/ppt/slides/slide16.xml" Id="Rd04c0f74f09b4bc5" /><Relationship Type="http://schemas.openxmlformats.org/officeDocument/2006/relationships/slide" Target="/ppt/slides/slide17.xml" Id="Rc2ceaa96f66c430b" /><Relationship Type="http://schemas.openxmlformats.org/officeDocument/2006/relationships/slide" Target="/ppt/slides/slide18.xml" Id="R7762018366ef4ff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8402fb0f4c54ff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20f820c250b4a97" /><Relationship Type="http://schemas.openxmlformats.org/officeDocument/2006/relationships/notesMaster" Target="/ppt/notesMasters/notesMaster1.xml" Id="R0b17cd7ba6ab497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80693a07d8341d1" /><Relationship Type="http://schemas.openxmlformats.org/officeDocument/2006/relationships/notesMaster" Target="/ppt/notesMasters/notesMaster1.xml" Id="R1d4b5c8a5445412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21c58124f6b4d61" /><Relationship Type="http://schemas.openxmlformats.org/officeDocument/2006/relationships/notesMaster" Target="/ppt/notesMasters/notesMaster1.xml" Id="R5e2c82fa505e490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750ec7b31b04617" /><Relationship Type="http://schemas.openxmlformats.org/officeDocument/2006/relationships/notesMaster" Target="/ppt/notesMasters/notesMaster1.xml" Id="R412d67ee6bf04e2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5eb5a58f4974037" /><Relationship Type="http://schemas.openxmlformats.org/officeDocument/2006/relationships/notesMaster" Target="/ppt/notesMasters/notesMaster1.xml" Id="R80ae13e9f0a8495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30c7efaa3c74082" /><Relationship Type="http://schemas.openxmlformats.org/officeDocument/2006/relationships/notesMaster" Target="/ppt/notesMasters/notesMaster1.xml" Id="R319dc8226333456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bd6b19c7dd1404c" /><Relationship Type="http://schemas.openxmlformats.org/officeDocument/2006/relationships/notesMaster" Target="/ppt/notesMasters/notesMaster1.xml" Id="R48060eff2fe54c6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b39e3c904314404" /><Relationship Type="http://schemas.openxmlformats.org/officeDocument/2006/relationships/notesMaster" Target="/ppt/notesMasters/notesMaster1.xml" Id="R8a6897ef2ef7406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da48053b7994646" /><Relationship Type="http://schemas.openxmlformats.org/officeDocument/2006/relationships/notesMaster" Target="/ppt/notesMasters/notesMaster1.xml" Id="R35c8451c5a84482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984c0a90daf4703" /><Relationship Type="http://schemas.openxmlformats.org/officeDocument/2006/relationships/notesMaster" Target="/ppt/notesMasters/notesMaster1.xml" Id="Rc6a522638e85431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b536caf294d47f7" /><Relationship Type="http://schemas.openxmlformats.org/officeDocument/2006/relationships/notesMaster" Target="/ppt/notesMasters/notesMaster1.xml" Id="R0a67e51c94d54f1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3c58fe12f9c4594" /><Relationship Type="http://schemas.openxmlformats.org/officeDocument/2006/relationships/notesMaster" Target="/ppt/notesMasters/notesMaster1.xml" Id="R2b2333c37a67464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269a40861d847e8" /><Relationship Type="http://schemas.openxmlformats.org/officeDocument/2006/relationships/notesMaster" Target="/ppt/notesMasters/notesMaster1.xml" Id="R325bf9cfb32b4fd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54ad89acb4442e3" /><Relationship Type="http://schemas.openxmlformats.org/officeDocument/2006/relationships/notesMaster" Target="/ppt/notesMasters/notesMaster1.xml" Id="R5ed50016b4974bd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202f4ec86674ca7" /><Relationship Type="http://schemas.openxmlformats.org/officeDocument/2006/relationships/notesMaster" Target="/ppt/notesMasters/notesMaster1.xml" Id="Rae8d1e5a0a1b43b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00994ee8da840f0" /><Relationship Type="http://schemas.openxmlformats.org/officeDocument/2006/relationships/notesMaster" Target="/ppt/notesMasters/notesMaster1.xml" Id="Ra98e7999544b440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f0488b060b14db0" /><Relationship Type="http://schemas.openxmlformats.org/officeDocument/2006/relationships/notesMaster" Target="/ppt/notesMasters/notesMaster1.xml" Id="R88c716c1b6f443a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827e8949b4941d6" /><Relationship Type="http://schemas.openxmlformats.org/officeDocument/2006/relationships/notesMaster" Target="/ppt/notesMasters/notesMaster1.xml" Id="Rbc00f1d2f8344c8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1e2808a96041f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21013907fca4b5b" /><Relationship Type="http://schemas.openxmlformats.org/officeDocument/2006/relationships/slideLayout" Target="/ppt/slideLayouts/slideLayout1.xml" Id="Re58a0e7149a743b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58a0e7149a743b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b75098a2d34a29" /><Relationship Type="http://schemas.openxmlformats.org/officeDocument/2006/relationships/image" Target="/ppt/media/image.png" Id="Rf46a9e96c93c4d34" /><Relationship Type="http://schemas.openxmlformats.org/officeDocument/2006/relationships/notesSlide" Target="/ppt/notesSlides/notesSlide1.xml" Id="R166932b0e31b403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1f71b596294388" /><Relationship Type="http://schemas.openxmlformats.org/officeDocument/2006/relationships/image" Target="/ppt/media/image2.png" Id="R8a6b38cb0a6f4b68" /><Relationship Type="http://schemas.openxmlformats.org/officeDocument/2006/relationships/notesSlide" Target="/ppt/notesSlides/notesSlide2.xml" Id="R2dd9e407f8a04b6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1a1141a71b43a7" /><Relationship Type="http://schemas.openxmlformats.org/officeDocument/2006/relationships/image" Target="/ppt/media/image3.png" Id="R5d946cf5d4074eeb" /><Relationship Type="http://schemas.openxmlformats.org/officeDocument/2006/relationships/notesSlide" Target="/ppt/notesSlides/notesSlide3.xml" Id="Ra78c49c560ca486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42e1a907614cf2" /><Relationship Type="http://schemas.openxmlformats.org/officeDocument/2006/relationships/image" Target="/ppt/media/image4.png" Id="R1c04f7378e3d4e2f" /><Relationship Type="http://schemas.openxmlformats.org/officeDocument/2006/relationships/image" Target="/ppt/media/image5.png" Id="R928a28a608c6466a" /><Relationship Type="http://schemas.openxmlformats.org/officeDocument/2006/relationships/notesSlide" Target="/ppt/notesSlides/notesSlide4.xml" Id="R210ba4d76f5742f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20050ffe5f4f1b" /><Relationship Type="http://schemas.openxmlformats.org/officeDocument/2006/relationships/notesSlide" Target="/ppt/notesSlides/notesSlide5.xml" Id="Rbc0ac0a0138a4e2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424853031a4974" /><Relationship Type="http://schemas.openxmlformats.org/officeDocument/2006/relationships/notesSlide" Target="/ppt/notesSlides/notesSlide6.xml" Id="Rfac57579336e488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3f547a6df84234" /><Relationship Type="http://schemas.openxmlformats.org/officeDocument/2006/relationships/notesSlide" Target="/ppt/notesSlides/notesSlide7.xml" Id="R4bcf70e847474b2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fadf9b1be04065" /><Relationship Type="http://schemas.openxmlformats.org/officeDocument/2006/relationships/notesSlide" Target="/ppt/notesSlides/notesSlide8.xml" Id="R188c4bafcfaf45d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a9d981c1c34d8f" /><Relationship Type="http://schemas.openxmlformats.org/officeDocument/2006/relationships/notesSlide" Target="/ppt/notesSlides/notesSlide9.xml" Id="R6490f709302a4a6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6f72db1ded4818" /><Relationship Type="http://schemas.openxmlformats.org/officeDocument/2006/relationships/notesSlide" Target="/ppt/notesSlides/notesSlide10.xml" Id="R474804c29019421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4853652662459b" /><Relationship Type="http://schemas.openxmlformats.org/officeDocument/2006/relationships/notesSlide" Target="/ppt/notesSlides/notesSlide11.xml" Id="Rc1c2c581dbde42a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436a98fa104629" /><Relationship Type="http://schemas.openxmlformats.org/officeDocument/2006/relationships/image" Target="/ppt/media/image6.png" Id="R394a4466ae0b4540" /><Relationship Type="http://schemas.openxmlformats.org/officeDocument/2006/relationships/notesSlide" Target="/ppt/notesSlides/notesSlide12.xml" Id="R76e3a2bcdf2f4b0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d8fd97886b4458" /><Relationship Type="http://schemas.openxmlformats.org/officeDocument/2006/relationships/image" Target="/ppt/media/image7.png" Id="R68155ffcc4614d99" /><Relationship Type="http://schemas.openxmlformats.org/officeDocument/2006/relationships/image" Target="/ppt/media/image8.png" Id="R49acd34e63a3468e" /><Relationship Type="http://schemas.openxmlformats.org/officeDocument/2006/relationships/notesSlide" Target="/ppt/notesSlides/notesSlide13.xml" Id="R788fd2a7a4e5454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6ca084061a4855" /><Relationship Type="http://schemas.openxmlformats.org/officeDocument/2006/relationships/image" Target="/ppt/media/image9.png" Id="Rf3f12744d7b54a1d" /><Relationship Type="http://schemas.openxmlformats.org/officeDocument/2006/relationships/image" Target="/ppt/media/image10.png" Id="R68d0f80fe6324e57" /><Relationship Type="http://schemas.openxmlformats.org/officeDocument/2006/relationships/notesSlide" Target="/ppt/notesSlides/notesSlide14.xml" Id="R48d4033ce3564e7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106099552f471a" /><Relationship Type="http://schemas.openxmlformats.org/officeDocument/2006/relationships/notesSlide" Target="/ppt/notesSlides/notesSlide15.xml" Id="R0cbdf8e2511e4e6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048a107ca743ab" /><Relationship Type="http://schemas.openxmlformats.org/officeDocument/2006/relationships/image" Target="/ppt/media/image11.png" Id="R021e59eda7394e33" /><Relationship Type="http://schemas.openxmlformats.org/officeDocument/2006/relationships/image" Target="/ppt/media/image12.png" Id="R78abad901d644f80" /><Relationship Type="http://schemas.openxmlformats.org/officeDocument/2006/relationships/image" Target="/ppt/media/image13.png" Id="R80546e9aff434a79" /><Relationship Type="http://schemas.openxmlformats.org/officeDocument/2006/relationships/image" Target="/ppt/media/image14.png" Id="Ra6a19b866c4a4664" /><Relationship Type="http://schemas.openxmlformats.org/officeDocument/2006/relationships/image" Target="/ppt/media/image15.png" Id="R2039bba08df842b9" /><Relationship Type="http://schemas.openxmlformats.org/officeDocument/2006/relationships/image" Target="/ppt/media/image16.png" Id="R1726efb78a614b85" /><Relationship Type="http://schemas.openxmlformats.org/officeDocument/2006/relationships/image" Target="/ppt/media/image17.png" Id="R68463cea9241431f" /><Relationship Type="http://schemas.openxmlformats.org/officeDocument/2006/relationships/image" Target="/ppt/media/image18.png" Id="R9531c12c20c348b8" /><Relationship Type="http://schemas.openxmlformats.org/officeDocument/2006/relationships/notesSlide" Target="/ppt/notesSlides/notesSlide16.xml" Id="R1a1676327e3641f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d04892ec674fe2" /><Relationship Type="http://schemas.openxmlformats.org/officeDocument/2006/relationships/image" Target="/ppt/media/image19.png" Id="Rc6fbcf4aa9234f4a" /><Relationship Type="http://schemas.openxmlformats.org/officeDocument/2006/relationships/notesSlide" Target="/ppt/notesSlides/notesSlide17.xml" Id="Rce781c46ffd34943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9cd2540ada4d92" /><Relationship Type="http://schemas.openxmlformats.org/officeDocument/2006/relationships/notesSlide" Target="/ppt/notesSlides/notesSlide18.xml" Id="Rd9baa355472942b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81B8350-16BB-4B33-8C45-B695D482D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3"/>
          </a:solidFill>
          <a:ln xmlns:a="http://schemas.openxmlformats.org/drawingml/2006/main" w="0">
            <a:solidFill>
              <a:srgbClr val="F7F7F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20B6CD-3A89-41EC-A3A3-6281E5214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F0FE83-07EA-4F18-A216-EA82F3654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rPr>
              <a:t>제목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748AA5-BD23-4E09-A428-57CACB43D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019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CODE BLUE 보스전 PPO 강화학습 발표자료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516A2D-D533-49C1-AB09-FB8D2C0AA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DCE0"/>
          </a:solidFill>
          <a:ln xmlns:a="http://schemas.openxmlformats.org/drawingml/2006/main" w="0">
            <a:solidFill>
              <a:srgbClr val="DADCE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A52114-7D0A-4681-A04A-0C8FFF634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2000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53F5F2-3BED-4825-B3B8-6081153F7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66875"/>
            <a:ext cx="1733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A73E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A73E8"/>
                </a:solidFill>
                <a:latin typeface="Malgun Gothic"/>
                <a:ea typeface="Malgun Gothic"/>
                <a:cs typeface="Malgun Gothic"/>
              </a:rPr>
              <a:t>1M PPO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B987F8-BAF8-4F0A-904E-74E791B24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38350"/>
            <a:ext cx="1733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run-id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AEC1E9-6242-42CC-8CD0-443895175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524000"/>
            <a:ext cx="18097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72CA60-EC4B-4285-A611-8C631073B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666875"/>
            <a:ext cx="1543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803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88038"/>
                </a:solidFill>
                <a:latin typeface="Malgun Gothic"/>
                <a:ea typeface="Malgun Gothic"/>
                <a:cs typeface="Malgun Gothic"/>
              </a:rPr>
              <a:t>438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F33231-B5CC-4CBD-843F-FA8C25102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038350"/>
            <a:ext cx="1543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observation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B608BF-E9EC-4F81-A24D-059B57D9D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524000"/>
            <a:ext cx="18097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013ADC-22E5-40CE-BAB0-00B08FD3A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666875"/>
            <a:ext cx="1543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rPr>
              <a:t>[5,2]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4E00B0-2667-4CF6-938D-48815F20E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038350"/>
            <a:ext cx="1543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action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3EBBDA-C6CF-4AB7-88C0-4FCB1AED9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524000"/>
            <a:ext cx="15240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ED3792-9D97-4E6D-856A-15E24C2C2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666875"/>
            <a:ext cx="1257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B060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B06000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56D271-8808-4C09-800E-0A3DEBD85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038350"/>
            <a:ext cx="1257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leak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6a9e96c93c4d34"/>
          <a:stretch xmlns:a="http://schemas.openxmlformats.org/drawingml/2006/main"/>
        </p:blipFill>
        <p:spPr>
          <a:xfrm xmlns:a="http://schemas.openxmlformats.org/drawingml/2006/main">
            <a:off x="8858250" y="1466850"/>
            <a:ext cx="2571750" cy="1447800"/>
          </a:xfrm>
          <a:prstGeom xmlns:a="http://schemas.openxmlformats.org/drawingml/2006/main" prst="rect">
            <a:avLst/>
          </a:prstGeom>
        </p:spPr>
      </p:pic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698B98-92AF-4CCC-9BA8-897D372F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466850"/>
            <a:ext cx="2571750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44A05C-2BA7-47AD-B977-61F7D66B0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28900"/>
            <a:ext cx="2571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50196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95250" tIns="47625" rIns="9525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게임 화면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FB341E1-B395-4D35-AE63-700B8BAED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33750"/>
            <a:ext cx="193548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E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B3EABC-F247-44F1-B875-E775E2698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86150"/>
            <a:ext cx="174498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게임 소개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D491EB-A827-4805-BDC3-2B26EE843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2730" y="3333750"/>
            <a:ext cx="193548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4EA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A53958D-3928-49CF-8E83-595C1D9E2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7980" y="3486150"/>
            <a:ext cx="174498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MDP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E855A06-C90F-4D45-94C0-1C7320244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0610" y="3333750"/>
            <a:ext cx="193548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E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7736583-BF95-4E57-B5F5-14CCC99EC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5860" y="3486150"/>
            <a:ext cx="174498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PPO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C3602AB-3FA7-4540-A492-8DA647CAD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8490" y="3333750"/>
            <a:ext cx="193548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4EA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E140D49-C12E-49FE-BC2E-9748BB48E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3740" y="3486150"/>
            <a:ext cx="174498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보상 설계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FE66721-083D-4F89-ADD9-64BB6FAE0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6370" y="3333750"/>
            <a:ext cx="193548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E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E2E2BEF-FDAE-43B4-84F7-9B73BAECA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1620" y="3486150"/>
            <a:ext cx="174498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학습 결과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294204C-8F2D-4021-B0D1-13A871F11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72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4043"/>
          </a:solidFill>
          <a:ln xmlns:a="http://schemas.openxmlformats.org/drawingml/2006/main" w="0">
            <a:solidFill>
              <a:srgbClr val="3C404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B666DCE-CA2D-4DFB-B2DD-AE1501643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76750"/>
            <a:ext cx="9144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마침표 없는 개조식 본문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C759378-8047-41E0-B163-46B685492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339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4043"/>
          </a:solidFill>
          <a:ln xmlns:a="http://schemas.openxmlformats.org/drawingml/2006/main" w="0">
            <a:solidFill>
              <a:srgbClr val="3C404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29FA354-D2F4-4B32-8103-B7010C327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838700"/>
            <a:ext cx="9144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실제 영상과 로그 기반 수치 사용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E8D7EA9-6913-4F83-8A6C-CD89763F4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2959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4043"/>
          </a:solidFill>
          <a:ln xmlns:a="http://schemas.openxmlformats.org/drawingml/2006/main" w="0">
            <a:solidFill>
              <a:srgbClr val="3C404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1090C0E-DFC4-473C-BF7E-6233E135E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200650"/>
            <a:ext cx="9144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초기 중기 후기 5개 실제 플레이 영상 포함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9E62C36-A24B-4AF4-9AB7-C3243AC03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62700"/>
            <a:ext cx="266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CODE BLUE PPO 발표자료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43CBB85-2097-4256-8189-FBB325E47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62735302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378E8C6-0D72-4211-B339-F545B14C5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3"/>
          </a:solidFill>
          <a:ln xmlns:a="http://schemas.openxmlformats.org/drawingml/2006/main" w="0">
            <a:solidFill>
              <a:srgbClr val="F7F7F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5BF1B7-C7C6-49DB-A8EC-A97DE41CA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3A8223-C765-46F3-8420-EA566031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rPr>
              <a:t>게임 소개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5CD457-D9CE-4B01-A68D-3B5B9D8B3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019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2D 격자 보스전을 사람 입력 조건으로 학습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272E37-7C48-4635-9DAB-619EFCD9A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DCE0"/>
          </a:solidFill>
          <a:ln xmlns:a="http://schemas.openxmlformats.org/drawingml/2006/main" w="0">
            <a:solidFill>
              <a:srgbClr val="DADCE0"/>
            </a:solidFill>
            <a:prstDash val="solid"/>
          </a:ln>
        </p:spPr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6b38cb0a6f4b68"/>
          <a:stretch xmlns:a="http://schemas.openxmlformats.org/drawingml/2006/main"/>
        </p:blipFill>
        <p:spPr>
          <a:xfrm xmlns:a="http://schemas.openxmlformats.org/drawingml/2006/main">
            <a:off x="6610350" y="1504950"/>
            <a:ext cx="4762500" cy="26860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CBB84D-9C55-4055-B9A6-C54075B02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504950"/>
            <a:ext cx="4762500" cy="2686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9DD968-984E-40F9-B885-07625FAA6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05250"/>
            <a:ext cx="4762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50196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95250" tIns="47625" rIns="9525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실제 플레이 캡처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39EADE-0936-4CED-8674-9BFD3A1B8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764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ADAD6E-CA28-41CD-9BD5-86FAFAF20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581150"/>
            <a:ext cx="514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게임명 CODE BLUE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27A218-A290-4DD0-96CC-8A589E9C4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76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2CD02F-6598-4A3A-AF3D-CA99B0BC4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981200"/>
            <a:ext cx="514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보스명 Delulu the Dream Eater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D9FDE3-8997-4CFF-92B4-D2CC10FD0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765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70700F-A476-4EA7-B99C-589D2D497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81250"/>
            <a:ext cx="514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격자 기반 이동과 근접 공격으로 보스 HP 60 감소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5EA0E9-20D7-430D-A33E-B75F1F48D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765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80091B-8498-4215-934F-569B374C9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81300"/>
            <a:ext cx="514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경고 타일 확인 후 회피와 재진입을 반복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56C65B-20FA-400C-B96B-AFC0F8916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766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EA0717-E7AE-4991-9F8A-EE9B65D0F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181350"/>
            <a:ext cx="514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사람 입력과 같은 move 5개 attack 2개 분기 사용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8FC017-5BA6-4C7C-82CF-A25F5A666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305300"/>
            <a:ext cx="476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presentations/final/assets/source_images/game_warning_tile.png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D983E4-557C-4320-8248-7B7E578CA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62700"/>
            <a:ext cx="266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CODE BLUE PPO 발표자료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BE7A27-37D3-4F1E-A419-FBEF0CB54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92715306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7C97027-2276-4067-8134-2E9EB87AA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3"/>
          </a:solidFill>
          <a:ln xmlns:a="http://schemas.openxmlformats.org/drawingml/2006/main" w="0">
            <a:solidFill>
              <a:srgbClr val="F7F7F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85F6A0-A846-4F02-8956-84348EAAA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84014A-F465-42FD-9F7E-4D9600EC0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rPr>
              <a:t>패턴 소개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37C9D5-6D13-4A3D-AB8E-8DC025D7E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019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보스 패턴은 경고 타일과 실제 피해 타일을 분리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154E6E-3AF7-40C1-A49D-802A419CA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DCE0"/>
          </a:solidFill>
          <a:ln xmlns:a="http://schemas.openxmlformats.org/drawingml/2006/main" w="0">
            <a:solidFill>
              <a:srgbClr val="DADCE0"/>
            </a:solidFill>
            <a:prstDash val="solid"/>
          </a:ln>
        </p:spPr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946cf5d4074eeb"/>
          <a:stretch xmlns:a="http://schemas.openxmlformats.org/drawingml/2006/main"/>
        </p:blipFill>
        <p:spPr>
          <a:xfrm xmlns:a="http://schemas.openxmlformats.org/drawingml/2006/main">
            <a:off x="723900" y="1466850"/>
            <a:ext cx="4762500" cy="26860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2C21FA-7B37-49E6-8920-398C298FE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66850"/>
            <a:ext cx="4762500" cy="2686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312C18-79F2-4B8E-B555-D31903E1B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67150"/>
            <a:ext cx="4762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50196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95250" tIns="47625" rIns="9525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보스 근접 상태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A86621-21CF-44C9-98CB-D218A558E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619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2BF9F6-5718-4DB8-9AB5-E1E9E7679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524000"/>
            <a:ext cx="4857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Phase 1 X자 패턴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C2FAEF-72DB-4601-ADF8-0F71C8C2B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9621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0C0A52-F430-429F-ACBF-5051B825C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866900"/>
            <a:ext cx="4857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Phase 1 NZ 및 역순 패턴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730C15-DDDF-4C52-82C5-C6660DDB8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3050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6E74BA-3A38-489A-85D2-CD049D1B3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209800"/>
            <a:ext cx="4857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Phase 1 사각형 2칸 돌진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A63605-6576-4C9C-8DF2-FF737BA73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6479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3E7A39-4704-4A49-BD67-5FB7A40DE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52700"/>
            <a:ext cx="4857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Phase 1 십자 돌진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5F66BC-41A2-4069-A90E-B16FC3035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9908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B627C8-643A-44B5-8AA5-0328BC1E3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895600"/>
            <a:ext cx="4857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Phase 2 시계방향 4줄 돌진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235A18-A1F6-4671-8078-49CA18160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333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AD40D62-BE95-4CC4-97FD-9746F4094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38500"/>
            <a:ext cx="4857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Phase 3 MarkATK 표식 돌진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04EDC5-03A8-47C9-B041-67E9C5FD7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6766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0BB60B-E5EE-4DBF-BB26-96F8FFE94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581400"/>
            <a:ext cx="4857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Final 찍고 돌진 4회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3B096D-697C-4C9C-9363-D34436388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62700"/>
            <a:ext cx="266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CODE BLUE PPO 발표자료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966901B-354C-4014-B9AA-30CA23C0E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66130915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B38598D-2375-4EF5-B968-34BB30A88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3"/>
          </a:solidFill>
          <a:ln xmlns:a="http://schemas.openxmlformats.org/drawingml/2006/main" w="0">
            <a:solidFill>
              <a:srgbClr val="F7F7F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3E9EC2-EF6F-472C-80A8-FCC2B438C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6C7F00-ACB3-4985-B4EA-4AC9FF1AE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rPr>
              <a:t>패턴 자료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13F96F-0A4E-42C2-9FD0-B21C36536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019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후반 패턴은 visible cue와 sweep history 관측을 요구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708587-4E43-4605-8FD4-0BE5EA17F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DCE0"/>
          </a:solidFill>
          <a:ln xmlns:a="http://schemas.openxmlformats.org/drawingml/2006/main" w="0">
            <a:solidFill>
              <a:srgbClr val="DADCE0"/>
            </a:solidFill>
            <a:prstDash val="solid"/>
          </a:ln>
        </p:spPr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04f7378e3d4e2f"/>
          <a:stretch xmlns:a="http://schemas.openxmlformats.org/drawingml/2006/main"/>
        </p:blipFill>
        <p:spPr>
          <a:xfrm xmlns:a="http://schemas.openxmlformats.org/drawingml/2006/main">
            <a:off x="666750" y="1466850"/>
            <a:ext cx="5105400" cy="28765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F85159-6B12-4466-98F0-8840472AE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5105400" cy="2876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7214E2-EE03-4420-86EB-3D28A670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57650"/>
            <a:ext cx="5105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50196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95250" tIns="47625" rIns="9525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경고 타일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8a28a608c6466a"/>
          <a:stretch xmlns:a="http://schemas.openxmlformats.org/drawingml/2006/main"/>
        </p:blipFill>
        <p:spPr>
          <a:xfrm xmlns:a="http://schemas.openxmlformats.org/drawingml/2006/main">
            <a:off x="6248400" y="1466850"/>
            <a:ext cx="5105400" cy="287655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8D975D-EC6F-48A9-8AEE-506063D0F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66850"/>
            <a:ext cx="5105400" cy="2876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7714F8-EA5E-4483-A37F-1B306B625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057650"/>
            <a:ext cx="5105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50196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95250" tIns="47625" rIns="9525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피해 범위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AEBD96-63C2-4A04-8948-A6DB88D21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43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038"/>
          </a:solidFill>
          <a:ln xmlns:a="http://schemas.openxmlformats.org/drawingml/2006/main" w="0">
            <a:solidFill>
              <a:srgbClr val="18803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8E51DD-9CEF-4DA4-AFAE-0F05A367F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648200"/>
            <a:ext cx="990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경고 타일은 위험 회피 관측으로 사용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AB3084-FDEB-447C-8A0C-0AAEBF47E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67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038"/>
          </a:solidFill>
          <a:ln xmlns:a="http://schemas.openxmlformats.org/drawingml/2006/main" w="0">
            <a:solidFill>
              <a:srgbClr val="18803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D8F450-1D44-402D-A1CF-78820A22E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972050"/>
            <a:ext cx="990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피해 타일은 패널티와 action mask 근거로 사용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57F379-2AFB-4063-AA98-B3522FF90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911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038"/>
          </a:solidFill>
          <a:ln xmlns:a="http://schemas.openxmlformats.org/drawingml/2006/main" w="0">
            <a:solidFill>
              <a:srgbClr val="18803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8EB78B-DCEE-4D6A-AA48-14F436B53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295900"/>
            <a:ext cx="990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MarkATK real fake visible mask를 49칸 단위로 추가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1CDD53-70B7-4267-B55D-68A1AF809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715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038"/>
          </a:solidFill>
          <a:ln xmlns:a="http://schemas.openxmlformats.org/drawingml/2006/main" w="0">
            <a:solidFill>
              <a:srgbClr val="18803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D0091A-B61A-4B3E-99A5-E80937F71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619750"/>
            <a:ext cx="990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Phase2 sweep history는 이전 warning damage 흐름을 저장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05BA74-4FE1-4A28-822B-8148090D1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62700"/>
            <a:ext cx="266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CODE BLUE PPO 발표자료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91BE2B5-65C8-4DCF-BDAD-5C6CA871F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275117499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ADE0A86-E218-4B2E-93C4-0FF58310C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3"/>
          </a:solidFill>
          <a:ln xmlns:a="http://schemas.openxmlformats.org/drawingml/2006/main" w="0">
            <a:solidFill>
              <a:srgbClr val="F7F7F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FDC482-51DF-43EB-B44E-B51209F05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4D34D5-579A-4E3F-90E9-8669253CB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rPr>
              <a:t>플레이 영상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CD9F2D-0617-4F23-9774-60EBA65BF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019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발표용 영상은 5개 슬롯으로 구성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C6C876-B1F2-44A3-A448-2AB1199C1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DCE0"/>
          </a:solidFill>
          <a:ln xmlns:a="http://schemas.openxmlformats.org/drawingml/2006/main" w="0">
            <a:solidFill>
              <a:srgbClr val="DADCE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E8F679-DA6D-46C0-B4B4-6D9FE3170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85900"/>
            <a:ext cx="5334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4043"/>
          </a:solidFill>
          <a:ln xmlns:a="http://schemas.openxmlformats.org/drawingml/2006/main" w="0">
            <a:solidFill>
              <a:srgbClr val="3C404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C5A40F-A335-4A47-8E81-10B859A3E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62100"/>
            <a:ext cx="381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번호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BE4D1B-2568-45E3-897E-ADBB2759F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485900"/>
            <a:ext cx="1619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4043"/>
          </a:solidFill>
          <a:ln xmlns:a="http://schemas.openxmlformats.org/drawingml/2006/main" w="0">
            <a:solidFill>
              <a:srgbClr val="3C404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4765EC-0CD4-4D95-A556-E4A658573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562100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분류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CE5AF3-E652-4AA3-B823-833B66FF5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485900"/>
            <a:ext cx="3048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4043"/>
          </a:solidFill>
          <a:ln xmlns:a="http://schemas.openxmlformats.org/drawingml/2006/main" w="0">
            <a:solidFill>
              <a:srgbClr val="3C404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4051F8-3176-47C7-B848-860CFC9A6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562100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파일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96F2EE-940A-45ED-AFC4-D3DFCEB7F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485900"/>
            <a:ext cx="4191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4043"/>
          </a:solidFill>
          <a:ln xmlns:a="http://schemas.openxmlformats.org/drawingml/2006/main" w="0">
            <a:solidFill>
              <a:srgbClr val="3C404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727D4D-0CAA-47B3-850D-7C7F25C0B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1562100"/>
            <a:ext cx="4038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근거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7149AD-000E-4CB2-9A38-9A086F9C1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485900"/>
            <a:ext cx="1047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4043"/>
          </a:solidFill>
          <a:ln xmlns:a="http://schemas.openxmlformats.org/drawingml/2006/main" w="0">
            <a:solidFill>
              <a:srgbClr val="3C404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A003C8-9003-42D9-97B8-4DA752224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1562100"/>
            <a:ext cx="895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상태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4FDEF7-A6D2-4B30-BA2E-281DF5CA3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5334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C01EE0-2D29-4F4B-AEBE-2F94FC892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85975"/>
            <a:ext cx="381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BB04F6-FA88-4B87-9681-48FD9A9A5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19300"/>
            <a:ext cx="1619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59423E-7BD4-4BAA-8156-1DC2E41C4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085975"/>
            <a:ext cx="1466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학습 초기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98C2871-14C4-4713-AC73-578D2C623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019300"/>
            <a:ext cx="3048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6E71DA-8F72-4DD3-B0E0-C0B900ED5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085975"/>
            <a:ext cx="28956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videos/01_initial_policy.mp4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0512B2-064D-4535-9404-484726E6B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019300"/>
            <a:ext cx="4191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8F8601-B750-44B5-A242-050FA8C19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85975"/>
            <a:ext cx="40386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199K checkpoint 실제 gameplay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3E9B379-89EA-4C42-A979-CD9DB3973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019300"/>
            <a:ext cx="1047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3056576-CA62-488B-BD86-C4C6B7204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085975"/>
            <a:ext cx="895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완료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B9D4EFA-AA2D-4A34-B8CD-314CF39B6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52700"/>
            <a:ext cx="5334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4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074EC46-66ED-41CE-BCB8-B4B1821A6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19375"/>
            <a:ext cx="381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317C2EA-9783-4B3F-8414-067190B73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52700"/>
            <a:ext cx="1619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4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626A2DA-51FD-4911-B5FA-54B391F7D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619375"/>
            <a:ext cx="1466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중기 규칙 학습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3FF1C3E-E40D-481A-B695-13B396B2F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552700"/>
            <a:ext cx="3048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4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4E76CBD-295D-4C45-8FB5-C302E4651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619375"/>
            <a:ext cx="28956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videos/02_learning_progression.mp4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DF97330-C971-4ED3-B7B5-3BCF9F382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552700"/>
            <a:ext cx="4191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4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8BEE5DB-067C-49F2-928A-4FD31D490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619375"/>
            <a:ext cx="40386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499K checkpoint warning tile 회피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F9AF1AF-1BFB-43CF-8FEC-949BA6E3A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552700"/>
            <a:ext cx="1047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4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40427F0-186C-40BE-BF2B-53B9E7E84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619375"/>
            <a:ext cx="895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완료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4CEFC4B-3851-4F55-95EB-39E2C5F5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86100"/>
            <a:ext cx="5334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164F9EF-A9AC-4833-8CC2-37CE9DB74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52775"/>
            <a:ext cx="381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C06B92B-3F4D-43B7-A160-54722E611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86100"/>
            <a:ext cx="1619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D4A5845-39CA-43FD-86F0-CF715E150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152775"/>
            <a:ext cx="1466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중기 패턴 학습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624C412-3C8E-4DB4-9C13-B88F321C9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086100"/>
            <a:ext cx="3048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810F105-B8B7-45D6-A79E-17E9B4291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152775"/>
            <a:ext cx="28956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videos/03_mid_pattern_learning.mp4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D138362-2CF5-4300-9586-AE6E545BF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086100"/>
            <a:ext cx="4191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FEE4D4C-A61E-48C7-803E-4DBD1283E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152775"/>
            <a:ext cx="40386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799K checkpoint phase2 sweep 대응 후 player_dead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E4B498B-8AF7-4BF9-B778-2C303E09A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086100"/>
            <a:ext cx="1047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52842AB-1D2C-45E2-8534-BB3D620B9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3152775"/>
            <a:ext cx="895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완료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20A41AF-F109-4F8E-BEEF-79C974E40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0"/>
            <a:ext cx="5334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4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84B2BD3-DA25-46D4-BFC7-4A0D6D6F8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86175"/>
            <a:ext cx="381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15C73F2-B9A0-4EDC-BFEF-45F95893C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19500"/>
            <a:ext cx="1619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4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45F8A6D-90B8-4D87-B10C-5028249F6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686175"/>
            <a:ext cx="1466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후기 2 3 페이즈 패턴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DDD8180-F93F-4431-A68B-780EA9F53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619500"/>
            <a:ext cx="3048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4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43655FB-5222-4726-8B48-1E9146C6F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686175"/>
            <a:ext cx="28956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videos/04_late_phase23_patterns.mp4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D37AA6A-A94B-4E7D-8D59-3D776D865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619500"/>
            <a:ext cx="4191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4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689BE34-9269-47AF-BD24-5153B39AF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686175"/>
            <a:ext cx="40386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799K phase2 sweep 패턴 노출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0E89912-14A4-4B6A-8706-4F4C86361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619500"/>
            <a:ext cx="1047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4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A769777-AD18-41CF-9775-0DF24D461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3686175"/>
            <a:ext cx="895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완료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56ADE18-5942-43DD-B883-48438EBBA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52900"/>
            <a:ext cx="5334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BF9611B-0DAF-45E6-8AFF-9DF6AF5C9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19575"/>
            <a:ext cx="381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EFEA232-3DA0-4A0F-8549-FBBB9C67A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52900"/>
            <a:ext cx="1619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0297A24-F136-4FF0-9B5A-D6453E599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19575"/>
            <a:ext cx="1466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후기 꼼수성 클리어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B7FB8FB-B904-46AF-A163-39F5AF435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152900"/>
            <a:ext cx="3048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11695C9-9739-4618-8D85-9254F6B10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219575"/>
            <a:ext cx="28956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videos/05_late_clever_clear.mp4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4306B51-5007-49A5-AE52-4F76874BB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152900"/>
            <a:ext cx="4191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1641AC17-821A-42B6-A7D9-B1E780543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219575"/>
            <a:ext cx="40386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1M PPO inference boss_dead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FB970B5-F8C3-419E-8AE3-349BB1D50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152900"/>
            <a:ext cx="1047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EB8A1394-62D6-4D42-86E6-EC825A373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4219575"/>
            <a:ext cx="895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완료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0A0132F4-6C61-441C-878D-8EBA59654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10250"/>
            <a:ext cx="885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8803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88038"/>
                </a:solidFill>
                <a:latin typeface="Malgun Gothic"/>
                <a:ea typeface="Malgun Gothic"/>
                <a:cs typeface="Malgun Gothic"/>
              </a:rPr>
              <a:t>영상 3은 799K checkpoint 본캡처와 Player log를 함께 사용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CEC1B44-756D-405E-99D2-6B970DC9A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62700"/>
            <a:ext cx="266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CODE BLUE PPO 발표자료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28D546F0-1953-4CC1-8FAA-4E67F997C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10341392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A6792F9-4569-4080-8A77-E64C8149D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3"/>
          </a:solidFill>
          <a:ln xmlns:a="http://schemas.openxmlformats.org/drawingml/2006/main" w="0">
            <a:solidFill>
              <a:srgbClr val="F7F7F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6FC08B-53B9-48D3-A03F-67D4AD8F2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3C4B4E-0FEE-42F7-9316-95E02EFBD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rPr>
              <a:t>MDP 정의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E1A75B-416F-44ED-BC9A-648C4020F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019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플레이어와 보스를 하나의 decision step에서 결합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EECC3F-294B-4EC3-8A21-39A8FC696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DCE0"/>
          </a:solidFill>
          <a:ln xmlns:a="http://schemas.openxmlformats.org/drawingml/2006/main" w="0">
            <a:solidFill>
              <a:srgbClr val="DADCE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8042BB-60A6-490D-AA47-D6E3B2AE2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04950"/>
            <a:ext cx="4476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A73E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A73E8"/>
                </a:solidFill>
                <a:latin typeface="Malgun Gothic"/>
                <a:ea typeface="Malgun Gothic"/>
                <a:cs typeface="Malgun Gothic"/>
              </a:rPr>
              <a:t>플레이어 MDP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CF40B4-5C71-45A4-9A50-0BD985615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574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D5C7C6-1500-41DD-B942-161C6CB96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962150"/>
            <a:ext cx="4572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State 위치 방향 체력 공격 가능 범위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53A414-D100-4F45-812A-B97508FD8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00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6CC211-4A80-46F6-805D-9AD752AF1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05050"/>
            <a:ext cx="4572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State warning tile damage tile recent hazard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5A0DE3-2387-4FBB-8286-99C9CC4A0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432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4F8A27-47D4-4CDF-A0F4-E19A58208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47950"/>
            <a:ext cx="4572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Action move none up down left right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0EFBE1-38D2-47F3-98CC-E67AC9E79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861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814D63-6F75-4517-87ED-43CDAB2DB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90850"/>
            <a:ext cx="4572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Action attack no attack attack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D4549A-AB20-4369-87C9-F862CA359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B9A008-61C0-4C6C-BF3E-928383CEC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33750"/>
            <a:ext cx="4572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Transition 이동 공격 피격 쿨다운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C284D0-A532-4299-9F15-8FEADF28F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719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706EF5-9089-447A-8CE0-1BBD5120F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76650"/>
            <a:ext cx="4572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Termination player_dead timeout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F4EFC61-942C-440C-97CC-B66DA0763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504950"/>
            <a:ext cx="4476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rPr>
              <a:t>보스 MDP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E680BA6-24EF-42A0-99D0-B354169A3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574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735FB5-5D4C-451C-9C5C-2F56FBF1F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962150"/>
            <a:ext cx="4572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State 위치 방향 HP phase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4F033EA-EAB3-4A8C-9AA7-B79E2E385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400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67FBCED-82F6-4C55-A001-31FD7405E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05050"/>
            <a:ext cx="4572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State pattern warning damage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B3BB24C-FCB2-456B-8696-AA4AEEA8A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7432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4E42E06-F0CA-465B-976A-276C81650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47950"/>
            <a:ext cx="4572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State MarkATK real fake cue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A7A4DCA-DA7E-4BF7-8907-5BB1D092F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0861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6FA1233-48A6-4D82-9281-740810FF5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990850"/>
            <a:ext cx="4572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Transition phase pattern 진행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007A2B0-6485-4DA7-B8AC-23786E024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429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E4B01C5-BD41-4E50-A777-9DC289FEF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33750"/>
            <a:ext cx="4572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Transition HP 감소와 boss_dead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FFCE395-4AC7-4303-81C9-325767C58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7719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91537EB-1A02-4C0B-83A3-301F4674C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76650"/>
            <a:ext cx="4572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Reward는 두 MDP 결과를 한 step에서 결합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D8A3780-6C57-4EE4-A638-CD0670EA6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62700"/>
            <a:ext cx="266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CODE BLUE PPO 발표자료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74ECE9B-3C4D-4FF3-AF7E-0709DEEB8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64291574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48D52E9-A4C5-4EBB-BA59-0D9B73F4E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3"/>
          </a:solidFill>
          <a:ln xmlns:a="http://schemas.openxmlformats.org/drawingml/2006/main" w="0">
            <a:solidFill>
              <a:srgbClr val="F7F7F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239092-6A89-42CA-99C8-5D5136AE0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68A082-B4B9-4E5B-85EF-F356F897C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rPr>
              <a:t>상태공간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6CA2BB-CFA8-468C-8AC6-3192A551F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019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상태는 위치 체력 위험 타일 visible cue 학습 이력으로 구성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C62600-B058-4C5C-BB58-59231872D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DCE0"/>
          </a:solidFill>
          <a:ln xmlns:a="http://schemas.openxmlformats.org/drawingml/2006/main" w="0">
            <a:solidFill>
              <a:srgbClr val="DADCE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B1FB1F-4A54-453F-BCB8-406E737BC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24000"/>
            <a:ext cx="18097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1D5732-F459-490C-8915-95305665E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66875"/>
            <a:ext cx="1543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A73E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A73E8"/>
                </a:solidFill>
                <a:latin typeface="Malgun Gothic"/>
                <a:ea typeface="Malgun Gothic"/>
                <a:cs typeface="Malgun Gothic"/>
              </a:rPr>
              <a:t>193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B64DFD-BF64-4F48-9F53-8B7DA4FA6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38350"/>
            <a:ext cx="1543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기본 관측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DB3BBC-EBC8-4F7C-9006-E16EE6939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524000"/>
            <a:ext cx="18097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5A1ECB-6EC5-40E0-B7F1-4D0830A10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666875"/>
            <a:ext cx="1543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803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88038"/>
                </a:solidFill>
                <a:latin typeface="Malgun Gothic"/>
                <a:ea typeface="Malgun Gothic"/>
                <a:cs typeface="Malgun Gothic"/>
              </a:rPr>
              <a:t>438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5AEF92-5DAE-44B1-BDF9-701A59DBF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038350"/>
            <a:ext cx="1543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최종 관측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925094-C176-4400-B54C-26B8BC27C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524000"/>
            <a:ext cx="18097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6E4AC1-178B-4AD0-A385-92993301D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666875"/>
            <a:ext cx="1543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rPr>
              <a:t>49칸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BC37DA-63CA-4032-9320-AD1847922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038350"/>
            <a:ext cx="1543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arena mask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29C7AA-D156-44CB-BAD6-FE7C1007D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524000"/>
            <a:ext cx="18097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86E591-B86C-419E-B776-245AF5B82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666875"/>
            <a:ext cx="1543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B060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B06000"/>
                </a:solidFill>
                <a:latin typeface="Malgun Gothic"/>
                <a:ea typeface="Malgun Gothic"/>
                <a:cs typeface="Malgun Gothic"/>
              </a:rPr>
              <a:t>5종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4E9C23-3D71-4683-A888-7C1F4346C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038350"/>
            <a:ext cx="1543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추가 mask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344B6B-D2AD-43D3-96AB-37E462388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52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038"/>
          </a:solidFill>
          <a:ln xmlns:a="http://schemas.openxmlformats.org/drawingml/2006/main" w="0">
            <a:solidFill>
              <a:srgbClr val="18803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BE6B2B-E0A2-46AB-BD51-305344880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57500"/>
            <a:ext cx="933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플레이어 위치 방향 체력 보스 HP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7E806A-31C3-4E7E-A5F2-1CB2C59CE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575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038"/>
          </a:solidFill>
          <a:ln xmlns:a="http://schemas.openxmlformats.org/drawingml/2006/main" w="0">
            <a:solidFill>
              <a:srgbClr val="18803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D6712D-A6BC-486D-BDDA-CF9D29FFA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162300"/>
            <a:ext cx="933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보스 visible 여부와 visible 위치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3FE361-9C0B-40AA-BE37-C13E53A7D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623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038"/>
          </a:solidFill>
          <a:ln xmlns:a="http://schemas.openxmlformats.org/drawingml/2006/main" w="0">
            <a:solidFill>
              <a:srgbClr val="18803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C83E20C-96E9-4A9D-A003-9B8E8BFB9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467100"/>
            <a:ext cx="933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warning mask damage mask prev warning mask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BBDCDAD-1F41-4569-9006-0C317E004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671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038"/>
          </a:solidFill>
          <a:ln xmlns:a="http://schemas.openxmlformats.org/drawingml/2006/main" w="0">
            <a:solidFill>
              <a:srgbClr val="18803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939462F-3F8E-4BF5-AA3C-B68BD2ADA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771900"/>
            <a:ext cx="933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공격 가능 여부 거리 위험 타일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E90CAB9-91D7-4925-8D2D-CE9CDBC32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719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038"/>
          </a:solidFill>
          <a:ln xmlns:a="http://schemas.openxmlformats.org/drawingml/2006/main" w="0">
            <a:solidFill>
              <a:srgbClr val="18803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0861393-C46A-4262-B812-F84C6637A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76700"/>
            <a:ext cx="933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MarkATK real visible mask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F3E7505-07EB-44DE-B490-491F02CC5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76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038"/>
          </a:solidFill>
          <a:ln xmlns:a="http://schemas.openxmlformats.org/drawingml/2006/main" w="0">
            <a:solidFill>
              <a:srgbClr val="18803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CA66BFA-E7D4-4FE4-A609-F81BAC4FC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381500"/>
            <a:ext cx="933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MarkATK fake visible mask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D78B078-858D-41FB-BDD8-05F3D5DCA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815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038"/>
          </a:solidFill>
          <a:ln xmlns:a="http://schemas.openxmlformats.org/drawingml/2006/main" w="0">
            <a:solidFill>
              <a:srgbClr val="18803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EFCFB4-5A5A-4006-8B89-AE8442C03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686300"/>
            <a:ext cx="933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prev warning2 prev damage sweep history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808062D-71E9-4A47-B26D-F37EFA621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863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038"/>
          </a:solidFill>
          <a:ln xmlns:a="http://schemas.openxmlformats.org/drawingml/2006/main" w="0">
            <a:solidFill>
              <a:srgbClr val="18803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1061318-2EE9-41E2-B34A-B40D66F20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991100"/>
            <a:ext cx="933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next_band와 sweep index 직접 노출 없음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A68A10B-F3C3-41FC-9678-AA34CD41E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62700"/>
            <a:ext cx="266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CODE BLUE PPO 발표자료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22B6095-92C3-41DB-B56E-14D667B61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996345555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14B6D90-19E5-49C4-B645-313354712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3"/>
          </a:solidFill>
          <a:ln xmlns:a="http://schemas.openxmlformats.org/drawingml/2006/main" w="0">
            <a:solidFill>
              <a:srgbClr val="F7F7F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D33E28-6E15-465A-814A-8FFB91798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0A7B73-7A47-4610-9AEE-5672D9E54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rPr>
              <a:t>행동공간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3A108C-35BC-4AB1-8750-408F0F5A8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019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행동은 MultiDiscrete [5,2]와 action mask로 제한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D5BFD9-772C-4029-A105-57B4E3756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DCE0"/>
          </a:solidFill>
          <a:ln xmlns:a="http://schemas.openxmlformats.org/drawingml/2006/main" w="0">
            <a:solidFill>
              <a:srgbClr val="DADCE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AEAF74-23ED-4570-BE16-8BE42E457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47625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E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D479B9-833A-48AC-A48B-B615865A3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8595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A73E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A73E8"/>
                </a:solidFill>
                <a:latin typeface="Malgun Gothic"/>
                <a:ea typeface="Malgun Gothic"/>
                <a:cs typeface="Malgun Gothic"/>
              </a:rPr>
              <a:t>Branch 0 move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30803B-E5D8-40A1-B1DA-4BAFEF6CB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4939CE-CB4C-48D4-B2DD-660614FAE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30505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none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92D252-38AC-4EE4-A924-AF1EB954D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67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6FD2A2-C98D-49DE-ACA8-1E5FD561A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7175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up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DB635B-0317-4D93-9DA1-37E89B54A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337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1C9EC9-9958-404F-A73D-D218EDC7B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3845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down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9B45BB-67CD-489B-B4F4-1E18ECB42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004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E94AC3-49AC-48A3-BE37-D7134B8FB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10515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left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D3C24A-36D3-47D3-9D94-E21BA019B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671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A7D9C8-0E1B-4401-A2FD-BBE93CE95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37185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right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095422-A85A-4FF5-9E75-491A09F81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657350"/>
            <a:ext cx="40957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8E6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0CAEB7-DEF8-4784-96EA-04B7AFEE0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885950"/>
            <a:ext cx="238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rPr>
              <a:t>Branch 1 attack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7B3BC4-3B37-4818-B385-51071097B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400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3D54D9-43C1-4489-BCDA-0474360FF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305050"/>
            <a:ext cx="2667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no attack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AFC4232-E257-4F2B-B2A8-9C6E8CB81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7241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298E2D-EE3C-486A-9441-D9343A3A4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628900"/>
            <a:ext cx="2667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attack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B587F0C-D349-4DC1-8528-30A6C9051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195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4043"/>
          </a:solidFill>
          <a:ln xmlns:a="http://schemas.openxmlformats.org/drawingml/2006/main" w="0">
            <a:solidFill>
              <a:srgbClr val="3C404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12E0B18-54CE-46CD-9729-A17B57BB9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24300"/>
            <a:ext cx="9525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불가능 이동은 mask로 차단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7D4014C-D35D-4645-8967-5EC240247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005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4043"/>
          </a:solidFill>
          <a:ln xmlns:a="http://schemas.openxmlformats.org/drawingml/2006/main" w="0">
            <a:solidFill>
              <a:srgbClr val="3C404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B7EFCCD-F601-480A-81A2-D84605AF2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9525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hidden target 공격 차단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C3040B5-52B2-445C-911C-2EB835E77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815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4043"/>
          </a:solidFill>
          <a:ln xmlns:a="http://schemas.openxmlformats.org/drawingml/2006/main" w="0">
            <a:solidFill>
              <a:srgbClr val="3C404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E739169-98C3-4984-AFA6-F2C40FD6B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86300"/>
            <a:ext cx="9525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off-lane stale target 공격 차단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4697314-4259-48BF-939E-7CBB281B6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625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4043"/>
          </a:solidFill>
          <a:ln xmlns:a="http://schemas.openxmlformats.org/drawingml/2006/main" w="0">
            <a:solidFill>
              <a:srgbClr val="3C404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B1F3551-BF62-4062-AFD2-DAA7B42F2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067300"/>
            <a:ext cx="9525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공격 허용 여부는 BossRLTargetAlignmentDiagnostics와 ApplySingleAction 경로로 확인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657643B-234A-4B4F-83B4-E3FCEEB61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62700"/>
            <a:ext cx="266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CODE BLUE PPO 발표자료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1347532-B6DA-443E-881B-A44261974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04619400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9278AC9-094E-4E41-A620-4FCEF2976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3"/>
          </a:solidFill>
          <a:ln xmlns:a="http://schemas.openxmlformats.org/drawingml/2006/main" w="0">
            <a:solidFill>
              <a:srgbClr val="F7F7F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6C0CB7-0836-46C2-837B-02299F4C1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B74E3C-5774-42CF-973C-FBBD5D4C8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rPr>
              <a:t>PPO 기법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A8B0DB-5981-45E5-8520-B6489E208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019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PPO는 정책 갱신 폭을 제한해 순차 전투 정책을 안정화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B64B8A-A908-41E3-AB29-EF5EA1B95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DCE0"/>
          </a:solidFill>
          <a:ln xmlns:a="http://schemas.openxmlformats.org/drawingml/2006/main" w="0">
            <a:solidFill>
              <a:srgbClr val="DADCE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94CABC-2A2A-413F-A54D-0553FD1EC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573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C5B8E8-50FF-42B9-9BC7-373916428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562100"/>
            <a:ext cx="5619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ML-Agents PPO trainer 사용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59A36E-FB15-4E89-9751-91F2C98ED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574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F88729-2CE0-4445-B1F5-62423986E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62150"/>
            <a:ext cx="5619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policy gradient 기반으로 행동 확률을 직접 학습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E3BAF0-431E-46A1-A9B0-A53405876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57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605B2F-5555-4C25-BA7B-AE505F7D9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62200"/>
            <a:ext cx="5619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epsilon 0.2로 급격한 policy update 제한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5A05B1-F541-430D-A822-3B6A33757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575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3AA2BB-9AF8-4C45-888D-4635DEF24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62250"/>
            <a:ext cx="5619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GAE lambda 0.95와 gamma 0.99 사용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50D711-7009-4469-8BBF-28537FED3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575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B7EF99-C7CD-44D7-8BB5-75B728B83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62300"/>
            <a:ext cx="5619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hidden_units 512 num_layers 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5073AB-01A0-4DE9-B754-40F33E441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576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E54754-4FB1-42E1-AB16-A5D22F5A1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562350"/>
            <a:ext cx="5619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discrete action과 action mask를 함께 사용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D9A7CFD-FBC9-4FDD-8C8E-8E313ED48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38300"/>
            <a:ext cx="34290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7BB47A-DE3F-4D85-BE0F-FC7104BF8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885950"/>
            <a:ext cx="2857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PPO 적용 이유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180749-5442-4D67-9114-D2AD9340F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4765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038"/>
          </a:solidFill>
          <a:ln xmlns:a="http://schemas.openxmlformats.org/drawingml/2006/main" w="0">
            <a:solidFill>
              <a:srgbClr val="18803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BD0000-6209-4B84-BFC8-CA1565A18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381250"/>
            <a:ext cx="2476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보스전은 순차 의사결정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A3086EB-054C-4DD8-95C6-04D946096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8194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038"/>
          </a:solidFill>
          <a:ln xmlns:a="http://schemas.openxmlformats.org/drawingml/2006/main" w="0">
            <a:solidFill>
              <a:srgbClr val="18803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ABCBAD9-4BD2-43A9-966B-49E5545FA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724150"/>
            <a:ext cx="2476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탐색 중 위험 타일 회피 필요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AF59235-A036-42C7-B935-04B17F048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162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038"/>
          </a:solidFill>
          <a:ln xmlns:a="http://schemas.openxmlformats.org/drawingml/2006/main" w="0">
            <a:solidFill>
              <a:srgbClr val="18803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CB8AF7D-6A83-4885-B4DA-A3C046335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067050"/>
            <a:ext cx="2476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공격 시점 학습 필요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9A42D36-8177-4511-84FA-8049B4BE9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5052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038"/>
          </a:solidFill>
          <a:ln xmlns:a="http://schemas.openxmlformats.org/drawingml/2006/main" w="0">
            <a:solidFill>
              <a:srgbClr val="18803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C839AC1-E677-43DC-B182-4BCAC60ED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409950"/>
            <a:ext cx="2476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사람 입력과 같은 discrete branch 사용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1CC1AFB-C349-48AE-92CB-64B2EB01B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62700"/>
            <a:ext cx="266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CODE BLUE PPO 발표자료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8507864-83E3-491E-B2E3-A22268D1E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39189702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4DEBB2C-8D25-41F8-88B5-2F043A373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3"/>
          </a:solidFill>
          <a:ln xmlns:a="http://schemas.openxmlformats.org/drawingml/2006/main" w="0">
            <a:solidFill>
              <a:srgbClr val="F7F7F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921077-37A1-4A28-A26A-4D8EBF66E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F253F7-7DFC-4604-BADC-B3CA7CC90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rPr>
              <a:t>보상 설계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4F7FBE-BCD3-45A8-99DA-67EE2A732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019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공격 시도 보상은 제거하고 실제 적중과 생존 실패를 분리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776F86-7DC2-4A34-8B38-10682B6AB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DCE0"/>
          </a:solidFill>
          <a:ln xmlns:a="http://schemas.openxmlformats.org/drawingml/2006/main" w="0">
            <a:solidFill>
              <a:srgbClr val="DADCE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3298BC-4F81-4172-BBA1-F4E8FAD69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85900"/>
            <a:ext cx="314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4043"/>
          </a:solidFill>
          <a:ln xmlns:a="http://schemas.openxmlformats.org/drawingml/2006/main" w="0">
            <a:solidFill>
              <a:srgbClr val="3C404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851E35-5A14-45A2-BD32-C0E3BAEC0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62100"/>
            <a:ext cx="2990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항목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723CB6-69C6-49B7-9EE1-65A14F8E7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48590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4043"/>
          </a:solidFill>
          <a:ln xmlns:a="http://schemas.openxmlformats.org/drawingml/2006/main" w="0">
            <a:solidFill>
              <a:srgbClr val="3C404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E9F386-DD7B-4885-868F-BE850EF97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1562100"/>
            <a:ext cx="1466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0F6AB1-1D6E-4C4D-8C27-2E0337B63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485900"/>
            <a:ext cx="4953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4043"/>
          </a:solidFill>
          <a:ln xmlns:a="http://schemas.openxmlformats.org/drawingml/2006/main" w="0">
            <a:solidFill>
              <a:srgbClr val="3C404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E65AF4-F1E5-4654-BB47-E5DB6D678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562100"/>
            <a:ext cx="4800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의미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29F6E7-A922-41D1-8B12-99E6559D5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00250"/>
            <a:ext cx="314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73C05B-763A-4CA0-8C05-2DE9DB5DA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66925"/>
            <a:ext cx="2990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BossDamagePerHp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6529F2-64F2-47AE-8F2B-6F4751EDD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00025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751017-D5D4-4AFB-B48C-E46DA42D6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06692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+0.10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6DE8A8-F94C-496F-B9A3-C4CED6989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000250"/>
            <a:ext cx="4953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C9D269-C18E-41B5-BE0F-43410F155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066925"/>
            <a:ext cx="4800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HP 감소 보상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B3C0D7-B213-484E-902D-883BE18BB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14600"/>
            <a:ext cx="314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4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3BBDD8-F40E-4178-B595-083EE9C60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81275"/>
            <a:ext cx="2990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SuccessfulHitBonusReward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77574C-4CFD-4800-875C-948A2546B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51460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4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F9D213-D00C-47AF-8723-D09351800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58127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+0.08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B4F085D-D0FF-4755-9CC9-243445539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514600"/>
            <a:ext cx="4953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4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2AE0121-455B-4412-A24A-78317D20B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581275"/>
            <a:ext cx="4800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실제 hit 보상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EBE9F4C-1CFD-43C4-9425-31421A91B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28950"/>
            <a:ext cx="314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7538A1C-D37D-46B2-8863-081117054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095625"/>
            <a:ext cx="2990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BossKillReward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11DA7C-A19B-4E84-A68C-62778EF2E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02895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C73D283-EB3B-43C4-9B7E-6BB115CEC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09562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+5.0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A6CA172-7C05-4D38-A853-B9F1173FE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028950"/>
            <a:ext cx="4953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6AFF630-3375-4D96-B842-D314D86D1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095625"/>
            <a:ext cx="4800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boss_dead 보상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6B30E83-1734-4A67-A0DB-97AC79073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43300"/>
            <a:ext cx="314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4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6D70305-6FE7-4510-9729-26FCA0B75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09975"/>
            <a:ext cx="2990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PlayerHitPenalty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C2CA22A-17C5-4476-930D-16310DD73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54330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4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3B81E3A-596B-4EFA-B5D4-EA7D9245E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60997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-2.0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50BEFD2-C4A6-4EEB-ADCE-2D73C981C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543300"/>
            <a:ext cx="4953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4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0DB59E9-5182-4D09-9AE5-822B2D8E6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609975"/>
            <a:ext cx="4800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피격 패널티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E506E83-C2FA-485B-9B1A-7BF93C748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57650"/>
            <a:ext cx="314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C4A82B3-F16D-41C1-A33F-3319B62EB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24325"/>
            <a:ext cx="2990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PlayerDeathPenalty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0626D7A-88E2-4D12-B708-3B3CCAC4E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05765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C27DCB8-F512-4EFD-BEF8-CE398D043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12432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-8.0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9B10167-1F9C-4A9B-A0EF-D695B2B74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057650"/>
            <a:ext cx="4953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28D7971-A816-4D8B-AF87-92BEB2226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124325"/>
            <a:ext cx="4800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사망 패널티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196A791-6FA3-4EC7-A969-1FA35EFC8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72000"/>
            <a:ext cx="314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4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7D7FB1F-6CBA-4080-9DFB-4D80F22E0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38675"/>
            <a:ext cx="2990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Warning Damage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C2653EB-BA73-4468-A619-6973FCD59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57200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4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F6A69B7-20CB-4AAE-A6C1-5686ECDC0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63867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-0.10 -0.20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3C9E6C2-CFB3-4D44-B892-9BDFC1892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572000"/>
            <a:ext cx="4953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4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E6C7853-FE1F-4A7F-B890-BB9D4E79A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638675"/>
            <a:ext cx="4800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위험 타일 패널티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65BC0BA-2C31-40EB-927B-58328A926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006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C1A7C7E-D351-4B75-B497-A4FDD6EA4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8763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공격 시도 자체 보상 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6E6E81B-5384-40C2-8CF7-BBA38285C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5245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7C66F50-362D-485A-9FF8-5D9689778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429250"/>
            <a:ext cx="8763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miss farming 방지 목적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8FDAD77-D61E-4EBD-9F18-62E8FCB2A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483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52CB17A-DE70-455F-A787-9BCB51305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753100"/>
            <a:ext cx="8763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fast-clear reward는 main run 미적용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2F63646-AE04-47C6-8227-1C626F5E6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62700"/>
            <a:ext cx="266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CODE BLUE PPO 발표자료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CC3182B-00B8-493A-9C60-83BD71F82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84735595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2411CC5-42B8-490E-AC20-D0969A6A1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3"/>
          </a:solidFill>
          <a:ln xmlns:a="http://schemas.openxmlformats.org/drawingml/2006/main" w="0">
            <a:solidFill>
              <a:srgbClr val="F7F7F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B51E84-FF9E-4011-81D8-3F537199F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EA9EF4-57BA-4EFA-B36B-43051D823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rPr>
              <a:t>학습 설계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9AC844-9EAD-41BF-AF97-4479A3983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019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1M long-run은 구조 변경 없이 timestep을 늘린 재현 실험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F4C712-D8CC-4199-BCB1-36D79C463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DCE0"/>
          </a:solidFill>
          <a:ln xmlns:a="http://schemas.openxmlformats.org/drawingml/2006/main" w="0">
            <a:solidFill>
              <a:srgbClr val="DADCE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2B78A0-58B4-463A-B459-C05B0BABC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43050"/>
            <a:ext cx="1714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41E0FD-3A33-4206-8B71-DCE0D3687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85925"/>
            <a:ext cx="1447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A73E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A73E8"/>
                </a:solidFill>
                <a:latin typeface="Malgun Gothic"/>
                <a:ea typeface="Malgun Gothic"/>
                <a:cs typeface="Malgun Gothic"/>
              </a:rPr>
              <a:t>PPO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191F18-6104-4D8E-8FB4-9AAFBABD0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57400"/>
            <a:ext cx="1447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trainer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C13FEC-26AC-4FD7-94D0-87C75BF12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1543050"/>
            <a:ext cx="1714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8E76B6-619E-4204-8055-4A62B91DA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685925"/>
            <a:ext cx="1447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803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88038"/>
                </a:solidFill>
                <a:latin typeface="Malgun Gothic"/>
                <a:ea typeface="Malgun Gothic"/>
                <a:cs typeface="Malgun Gothic"/>
              </a:rPr>
              <a:t>1M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B921C3-ED11-42F0-8AB2-1046A7A84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057400"/>
            <a:ext cx="1447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max steps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D4CF78-FC98-42D0-8DF8-33295D347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543050"/>
            <a:ext cx="2381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741C88-0811-44C5-9783-DB90DD52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685925"/>
            <a:ext cx="2114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rPr>
              <a:t>1024 10240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3BBA2D-FC07-4259-8724-6FDE100DD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057400"/>
            <a:ext cx="2114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batch buffer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45EC63-3836-4177-A48A-C1B2F8B75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543050"/>
            <a:ext cx="19050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84F06A-26DF-46A0-AE7E-1C957D9B7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685925"/>
            <a:ext cx="1638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B060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B06000"/>
                </a:solidFill>
                <a:latin typeface="Malgun Gothic"/>
                <a:ea typeface="Malgun Gothic"/>
                <a:cs typeface="Malgun Gothic"/>
              </a:rPr>
              <a:t>512 x 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E98E25-AFB0-462C-B89D-0A513ABF6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057400"/>
            <a:ext cx="1638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network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D1EAF9-9212-4535-BF25-D117E51C5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48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038"/>
          </a:solidFill>
          <a:ln xmlns:a="http://schemas.openxmlformats.org/drawingml/2006/main" w="0">
            <a:solidFill>
              <a:srgbClr val="18803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298DA5-C70E-4C11-8CD3-7A5EA5298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52750"/>
            <a:ext cx="962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config ml-agents-config/boss_ppo_target_gate_markatk_sweep_1m_c84b1a4.yaml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D9CFCF-D359-4D3A-BD44-B176EF836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718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038"/>
          </a:solidFill>
          <a:ln xmlns:a="http://schemas.openxmlformats.org/drawingml/2006/main" w="0">
            <a:solidFill>
              <a:srgbClr val="18803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27AAE8-5168-42B5-BD27-7056A24EB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276600"/>
            <a:ext cx="962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run-id BossPPO_TargetGate_MarkATKObs_SweepHistory_1M_c84b1a4_v1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6A76A4-2C53-4F02-B5A0-16F33F3EE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957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038"/>
          </a:solidFill>
          <a:ln xmlns:a="http://schemas.openxmlformats.org/drawingml/2006/main" w="0">
            <a:solidFill>
              <a:srgbClr val="18803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D04AC18-EDC3-49E3-A6EE-DBC4CA580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600450"/>
            <a:ext cx="962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c84b1a4 계열 구조 유지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6D8FC80-CCF6-432A-BC53-9415DE763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195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038"/>
          </a:solidFill>
          <a:ln xmlns:a="http://schemas.openxmlformats.org/drawingml/2006/main" w="0">
            <a:solidFill>
              <a:srgbClr val="18803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2BCD090-543F-4983-BD19-F7389537E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924300"/>
            <a:ext cx="962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NO stationary lever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5B257B1-7268-4C1B-A4E5-1A3B93312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434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038"/>
          </a:solidFill>
          <a:ln xmlns:a="http://schemas.openxmlformats.org/drawingml/2006/main" w="0">
            <a:solidFill>
              <a:srgbClr val="18803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F92057E-FDEE-4430-AC40-7EEB6067A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48150"/>
            <a:ext cx="962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NO warn-tile relax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685F2E-F0E5-4A05-880A-A2B2C63DF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67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038"/>
          </a:solidFill>
          <a:ln xmlns:a="http://schemas.openxmlformats.org/drawingml/2006/main" w="0">
            <a:solidFill>
              <a:srgbClr val="18803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CC9FBD5-7E95-4228-9712-F0324C021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572000"/>
            <a:ext cx="962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NO demo BC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D1D0CB9-1A18-4A3C-A535-ED79846DC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911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038"/>
          </a:solidFill>
          <a:ln xmlns:a="http://schemas.openxmlformats.org/drawingml/2006/main" w="0">
            <a:solidFill>
              <a:srgbClr val="18803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4410242-1A75-4627-95A0-C5DA7F2E0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895850"/>
            <a:ext cx="962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max_steps summary_freq checkpoint_interval만 long-run 용도로 조정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D6FEEB5-D411-45DF-81B5-3BD7EA3C7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62700"/>
            <a:ext cx="266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CODE BLUE PPO 발표자료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3C8B911-77B2-4AA7-AAA2-365F9ED2F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53409297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460BA19-734E-4D2C-915E-77C2AD08E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3"/>
          </a:solidFill>
          <a:ln xmlns:a="http://schemas.openxmlformats.org/drawingml/2006/main" w="0">
            <a:solidFill>
              <a:srgbClr val="F7F7F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23CB11-E970-423A-8401-9B889F7EB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B9E905-9CC9-46A6-9762-E21075516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rPr>
              <a:t>학습 초기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058BFF-B9A9-4714-811D-671E257D8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019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199K 정책은 이동과 회피가 불안정하지만 실제 행동이 보임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219CE5-91EB-4099-9FD5-13931E32F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DCE0"/>
          </a:solidFill>
          <a:ln xmlns:a="http://schemas.openxmlformats.org/drawingml/2006/main" w="0">
            <a:solidFill>
              <a:srgbClr val="DADCE0"/>
            </a:solidFill>
            <a:prstDash val="solid"/>
          </a:ln>
        </p:spPr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4a4466ae0b4540"/>
          <a:stretch xmlns:a="http://schemas.openxmlformats.org/drawingml/2006/main"/>
        </p:blipFill>
        <p:spPr>
          <a:xfrm xmlns:a="http://schemas.openxmlformats.org/drawingml/2006/main">
            <a:off x="6610350" y="1504950"/>
            <a:ext cx="4762500" cy="26860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8CF8F1-DE6A-4400-996B-B76BD7989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504950"/>
            <a:ext cx="4762500" cy="2686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3E5076-4051-4FE7-8477-A0F2F65D9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05250"/>
            <a:ext cx="4762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50196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95250" tIns="47625" rIns="9525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실제 플레이 캡처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59DA64-68C9-4EBE-992E-003E17910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764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64AA03-1992-41B8-990F-34790DB30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581150"/>
            <a:ext cx="514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영상 1 학습 초기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BFAF42-FDA8-4CEB-993B-D58D3F3DE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76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501EDE-A3E1-4DD6-AB1A-D6EEA126F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981200"/>
            <a:ext cx="514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199K checkpoint 실제 gameplay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A20E55-0780-4155-9F41-806F6EA95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765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B4CCE6-8B41-451D-9FF8-552EB0D04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81250"/>
            <a:ext cx="514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45초 구간 내 boss_dead 없음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BEE914-D629-4C05-B0CC-D240AF18F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765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919522-E666-4833-B938-5C0ECAC54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81300"/>
            <a:ext cx="514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낮은 damage와 피격 위험 장면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FE8B35-D0FE-4088-A3DA-AA61F8BE2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766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183D41-9763-41C3-B9B7-D60D1F4AD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181350"/>
            <a:ext cx="514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최종 정책 영상을 초기 정책으로 재라벨링하지 않음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72959F-7AC2-41CC-BF57-98F5EA45B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305300"/>
            <a:ext cx="476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presentations/final/assets/video_thumbnails/01_initial_policy.png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A6AB705-1351-4645-8337-E42E3C9E8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62700"/>
            <a:ext cx="266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CODE BLUE PPO 발표자료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FD07319-B347-4500-B6F1-3E92FB334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378466459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9605C14-1702-4150-9269-8E8583550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3"/>
          </a:solidFill>
          <a:ln xmlns:a="http://schemas.openxmlformats.org/drawingml/2006/main" w="0">
            <a:solidFill>
              <a:srgbClr val="F7F7F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554D6C-551C-4E97-85DB-FB452118B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8652BA-5C05-47BB-94F0-05639477E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rPr>
              <a:t>학습 중기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C51D51-5765-4160-B47B-E9FE2237F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019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499K는 경고 타일 회피와 거리 규칙 단서가 보임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3F18E1-48CB-473F-8092-BC408D301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DCE0"/>
          </a:solidFill>
          <a:ln xmlns:a="http://schemas.openxmlformats.org/drawingml/2006/main" w="0">
            <a:solidFill>
              <a:srgbClr val="DADCE0"/>
            </a:solidFill>
            <a:prstDash val="solid"/>
          </a:ln>
        </p:spPr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155ffcc4614d99"/>
          <a:stretch xmlns:a="http://schemas.openxmlformats.org/drawingml/2006/main"/>
        </p:blipFill>
        <p:spPr>
          <a:xfrm xmlns:a="http://schemas.openxmlformats.org/drawingml/2006/main">
            <a:off x="666750" y="1466850"/>
            <a:ext cx="5029200" cy="28289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2DAC35-A8BB-45D7-9EA7-91B1FA628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5029200" cy="2828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02EBE4-B3D2-44C1-A9F6-47EE59B8C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10025"/>
            <a:ext cx="5029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50196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95250" tIns="47625" rIns="9525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영상 2 중기 규칙 학습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acd34e63a3468e"/>
          <a:stretch xmlns:a="http://schemas.openxmlformats.org/drawingml/2006/main"/>
        </p:blipFill>
        <p:spPr>
          <a:xfrm xmlns:a="http://schemas.openxmlformats.org/drawingml/2006/main">
            <a:off x="6229350" y="1466850"/>
            <a:ext cx="5029200" cy="2828925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909791-3AC5-4770-A861-0D7C4E8F5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466850"/>
            <a:ext cx="5029200" cy="2828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A81316-5A36-4446-8A2B-116BDF20D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010025"/>
            <a:ext cx="5029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50196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95250" tIns="47625" rIns="9525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영상 3 중기 패턴 학습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693E44-1A00-4F97-97D1-6EC24C97C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244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06000"/>
          </a:solidFill>
          <a:ln xmlns:a="http://schemas.openxmlformats.org/drawingml/2006/main" w="0">
            <a:solidFill>
              <a:srgbClr val="B06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DB44BC-5783-4A3B-84A4-343F8D9B7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29150"/>
            <a:ext cx="971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영상 2는 499K checkpoint 실제 gameplay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DBF29B-396B-4CD8-8C69-000E0B870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292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06000"/>
          </a:solidFill>
          <a:ln xmlns:a="http://schemas.openxmlformats.org/drawingml/2006/main" w="0">
            <a:solidFill>
              <a:srgbClr val="B06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761AEC-8990-4A2E-BFAB-2A792AD35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933950"/>
            <a:ext cx="971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warning tile 회피와 safe opportunity 판단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F33288-CF30-41D5-B873-720A34DF9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34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06000"/>
          </a:solidFill>
          <a:ln xmlns:a="http://schemas.openxmlformats.org/drawingml/2006/main" w="0">
            <a:solidFill>
              <a:srgbClr val="B06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02CDD7-C172-4D40-9D2A-D715CC6A3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38750"/>
            <a:ext cx="971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일부 attack과 boss 이동 대응 확인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E38AE6-6D34-4334-A39E-BCB0BBE1F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388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06000"/>
          </a:solidFill>
          <a:ln xmlns:a="http://schemas.openxmlformats.org/drawingml/2006/main" w="0">
            <a:solidFill>
              <a:srgbClr val="B06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5E7EB0-E3D2-4FD4-BE35-429778246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543550"/>
            <a:ext cx="971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영상 3은 799K checkpoint 실제 gameplay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DC3E1F-9F2F-404A-BAAD-A22175DBE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9436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06000"/>
          </a:solidFill>
          <a:ln xmlns:a="http://schemas.openxmlformats.org/drawingml/2006/main" w="0">
            <a:solidFill>
              <a:srgbClr val="B060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2CBA52A-672D-4BB9-9B82-8C68FDD47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848350"/>
            <a:ext cx="971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boss_damage 8 이후 player_dead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3702EC-9709-44B7-8CB8-315FB0BEC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484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06000"/>
          </a:solidFill>
          <a:ln xmlns:a="http://schemas.openxmlformats.org/drawingml/2006/main" w="0">
            <a:solidFill>
              <a:srgbClr val="B0600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E3A4D26-C859-48E7-B3CC-0D1ECE4D6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6153150"/>
            <a:ext cx="971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phase2 sweep history 653 step 확인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3544EC9-4E61-4D66-85AA-905D29536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62700"/>
            <a:ext cx="266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CODE BLUE PPO 발표자료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4312A9B-9D65-40C5-B5AF-0AF38B7F8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097702176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E7D335A-131E-449B-A76C-B91AC4B42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3"/>
          </a:solidFill>
          <a:ln xmlns:a="http://schemas.openxmlformats.org/drawingml/2006/main" w="0">
            <a:solidFill>
              <a:srgbClr val="F7F7F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293075-0908-41E3-A3BF-6BF4EB4F3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D4FDB1-0FE6-470E-868C-FB8D7840B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rPr>
              <a:t>학습 후기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4FF9FE-62D4-4904-88F1-E4511048C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019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후기 영상은 phase2 패턴 노출과 꼼수성 클리어를 분리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B5A6E5-E959-4301-B55B-020216B11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DCE0"/>
          </a:solidFill>
          <a:ln xmlns:a="http://schemas.openxmlformats.org/drawingml/2006/main" w="0">
            <a:solidFill>
              <a:srgbClr val="DADCE0"/>
            </a:solidFill>
            <a:prstDash val="solid"/>
          </a:ln>
        </p:spPr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f12744d7b54a1d"/>
          <a:stretch xmlns:a="http://schemas.openxmlformats.org/drawingml/2006/main"/>
        </p:blipFill>
        <p:spPr>
          <a:xfrm xmlns:a="http://schemas.openxmlformats.org/drawingml/2006/main">
            <a:off x="666750" y="1466850"/>
            <a:ext cx="5029200" cy="28289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0AE98B-8394-43CD-AD84-20238E997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5029200" cy="2828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2B1002-691D-4048-9A5E-93DC1F3DA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10025"/>
            <a:ext cx="5029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50196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95250" tIns="47625" rIns="9525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영상 4 후기 2 3 페이즈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d0f80fe6324e57"/>
          <a:stretch xmlns:a="http://schemas.openxmlformats.org/drawingml/2006/main"/>
        </p:blipFill>
        <p:spPr>
          <a:xfrm xmlns:a="http://schemas.openxmlformats.org/drawingml/2006/main">
            <a:off x="6229350" y="1466850"/>
            <a:ext cx="5029200" cy="2828925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17FADC-C842-4C31-B528-41225C453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466850"/>
            <a:ext cx="5029200" cy="2828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FD2502-CCC3-4439-B392-21659DEE5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010025"/>
            <a:ext cx="5029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50196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95250" tIns="47625" rIns="9525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영상 5 꼼수성 클리어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B42C83-B0BB-4BF0-888E-6552E18FE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244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114A48-ADA5-4D3E-9B68-CB1ADF0E4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29150"/>
            <a:ext cx="971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후기 패턴 영상은 phase2 sweep warning tile과 smoke 노출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25168C-6CD6-4CCD-8C3F-7239A7C8F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48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A8A65E-A8F5-4D74-B79F-7DDB6F465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953000"/>
            <a:ext cx="971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꼼수성 클리어는 diagonal blindspot처럼 보이는 근접 연속 공격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DEFCB2-0865-4432-8C8F-7074D679C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721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43D4CF-2CBF-4EFC-9237-DF26C0D5F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76850"/>
            <a:ext cx="971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영상 4는 799K phase2 sweep 노출 구간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DA7BCC-B4D6-486D-83A1-FFA0FC4B5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959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2EA597-1521-4210-818E-D13663DA4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600700"/>
            <a:ext cx="971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영상 5는 1M PPO inference boss_dead 로그 확인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30D8236-E446-4A9A-B73B-3FBE784B1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62700"/>
            <a:ext cx="266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CODE BLUE PPO 발표자료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4FD7DD-49F1-492B-B280-80956DF63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313343747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31362BC-E98A-401E-8C7E-20F8BF462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3"/>
          </a:solidFill>
          <a:ln xmlns:a="http://schemas.openxmlformats.org/drawingml/2006/main" w="0">
            <a:solidFill>
              <a:srgbClr val="F7F7F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8023B4-091F-4ABB-AA50-DAC8453FD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B50A0C-C02B-4543-BCD8-4376BAB77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rPr>
              <a:t>학습 결과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9D64C8-D138-4F81-BC67-8BDD93CDD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019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1M long-run에서 최근 100 episode 80퍼센트 클리어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73252C-F01B-43FB-B84A-36FF19221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DCE0"/>
          </a:solidFill>
          <a:ln xmlns:a="http://schemas.openxmlformats.org/drawingml/2006/main" w="0">
            <a:solidFill>
              <a:srgbClr val="DADCE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E486A6-48E3-4659-B0BF-45DF9D1D9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24000"/>
            <a:ext cx="19050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2A67A6-40E0-45C0-99CE-98000ADA4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66875"/>
            <a:ext cx="1638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rPr>
              <a:t>199회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8402CB-9C8F-4321-8925-6172AB771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38350"/>
            <a:ext cx="1638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boss_dead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E88522-5CC6-4159-9371-15944C9A3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524000"/>
            <a:ext cx="2095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84FC98-903E-4E57-B45B-24D38C5C6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666875"/>
            <a:ext cx="1828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803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88038"/>
                </a:solidFill>
                <a:latin typeface="Malgun Gothic"/>
                <a:ea typeface="Malgun Gothic"/>
                <a:cs typeface="Malgun Gothic"/>
              </a:rPr>
              <a:t>22.3%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A58A1D-CC9D-4F90-97FA-4B269EF62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038350"/>
            <a:ext cx="1828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전체 클리어율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1ABB45-6251-4890-9493-8AFE019B5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524000"/>
            <a:ext cx="22860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238329-0B49-42D6-B2EC-3963CFD3A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1666875"/>
            <a:ext cx="2019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803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88038"/>
                </a:solidFill>
                <a:latin typeface="Malgun Gothic"/>
                <a:ea typeface="Malgun Gothic"/>
                <a:cs typeface="Malgun Gothic"/>
              </a:rPr>
              <a:t>80%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B482EE-A94F-4A90-AB34-7337CE286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038350"/>
            <a:ext cx="2019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최근 100 클리어율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BCE8BA-3012-445E-94E5-07CCC4308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524000"/>
            <a:ext cx="2000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BBC3A9-3F3E-418E-802F-9514660B5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666875"/>
            <a:ext cx="1733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A73E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A73E8"/>
                </a:solidFill>
                <a:latin typeface="Malgun Gothic"/>
                <a:ea typeface="Malgun Gothic"/>
                <a:cs typeface="Malgun Gothic"/>
              </a:rPr>
              <a:t>42.6초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579A38-163F-48A5-8B95-67B27F00D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038350"/>
            <a:ext cx="1733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최속 클리어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E64B4A-E74F-448B-B2C9-010B6650D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0350"/>
            <a:ext cx="2381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915B35-F72F-4277-B20A-9666BFB47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43225"/>
            <a:ext cx="2114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B060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B06000"/>
                </a:solidFill>
                <a:latin typeface="Malgun Gothic"/>
                <a:ea typeface="Malgun Gothic"/>
                <a:cs typeface="Malgun Gothic"/>
              </a:rPr>
              <a:t>15,309회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45BCFA-8E38-4643-8BC7-BD01F61FC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14700"/>
            <a:ext cx="2114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MarkATK observed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D26E98-BB54-4358-927B-B042A89F5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800350"/>
            <a:ext cx="2095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C7973F-7CDE-4D30-95D4-3A629D2F6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943225"/>
            <a:ext cx="1828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803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88038"/>
                </a:solidFill>
                <a:latin typeface="Malgun Gothic"/>
                <a:ea typeface="Malgun Gothic"/>
                <a:cs typeface="Malgun Gothic"/>
              </a:rPr>
              <a:t>97.3%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3DF62D-2456-4D98-B610-D372106F3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314700"/>
            <a:ext cx="1828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최근 hit_rate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3BE77DA-1758-4119-9F6A-DA74555AE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800350"/>
            <a:ext cx="2095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28419F9-A6D7-4ABA-B15B-E206A4330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943225"/>
            <a:ext cx="1828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A73E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A73E8"/>
                </a:solidFill>
                <a:latin typeface="Malgun Gothic"/>
                <a:ea typeface="Malgun Gothic"/>
                <a:cs typeface="Malgun Gothic"/>
              </a:rPr>
              <a:t>27.5%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2664C32-A1A8-4DE6-9FCC-39A6F1126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314700"/>
            <a:ext cx="1828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최근 in_range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64FDB02-5AF3-4B31-A8B0-784AF63C4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800350"/>
            <a:ext cx="2381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6422C4E-92E7-4422-B5DB-7EE6FFFC1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943225"/>
            <a:ext cx="2114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rPr>
              <a:t>40.8 / 59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511CFEF-6FA3-4405-A73F-1E0EBB700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314700"/>
            <a:ext cx="2114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boss_damage avg max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991197D-7A5B-4378-AA20-1A4ECCDAD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196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4043"/>
          </a:solidFill>
          <a:ln xmlns:a="http://schemas.openxmlformats.org/drawingml/2006/main" w="0">
            <a:solidFill>
              <a:srgbClr val="3C404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80BE2A9-D32C-4446-8436-2897A61CB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324350"/>
            <a:ext cx="8763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그래프는 Player log episode summary 892개와 training_status checkpoint reward에서 생성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F9BE55D-DE2A-4A3B-82FE-DB4E48A9A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625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4043"/>
          </a:solidFill>
          <a:ln xmlns:a="http://schemas.openxmlformats.org/drawingml/2006/main" w="0">
            <a:solidFill>
              <a:srgbClr val="3C404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19946F2-96B8-478A-A8DD-E27230D0B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667250"/>
            <a:ext cx="8763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boss_dead 199회 파싱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72A0281-E77F-4DD4-937F-0A98FD00C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054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4043"/>
          </a:solidFill>
          <a:ln xmlns:a="http://schemas.openxmlformats.org/drawingml/2006/main" w="0">
            <a:solidFill>
              <a:srgbClr val="3C404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4E3D82B-99AE-448F-A2D6-59EE496D9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010150"/>
            <a:ext cx="8763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평균 클리어 시간 70.0초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D0A5592-B67B-4FB6-AC3E-4824D47CF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62700"/>
            <a:ext cx="266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CODE BLUE PPO 발표자료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F1C00C2-39EB-40B3-BA63-57F8E9542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64623921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29DE5E9-E612-4E9C-9DCA-407C34F8C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3"/>
          </a:solidFill>
          <a:ln xmlns:a="http://schemas.openxmlformats.org/drawingml/2006/main" w="0">
            <a:solidFill>
              <a:srgbClr val="F7F7F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B94592-3927-437D-8ED4-99B35550C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A3B09B-CA4D-40BD-8C9C-3A56FA205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rPr>
              <a:t>결과 그래프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E73DCD-23F7-4680-8BB6-44F648C42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019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damage clear rate reward hit rate가 함께 개선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64A5BE-4017-4CFC-9995-95B90F293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DCE0"/>
          </a:solidFill>
          <a:ln xmlns:a="http://schemas.openxmlformats.org/drawingml/2006/main" w="0">
            <a:solidFill>
              <a:srgbClr val="DADCE0"/>
            </a:solidFill>
            <a:prstDash val="solid"/>
          </a:ln>
        </p:spPr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1e59eda7394e33"/>
          <a:stretch xmlns:a="http://schemas.openxmlformats.org/drawingml/2006/main"/>
        </p:blipFill>
        <p:spPr>
          <a:xfrm xmlns:a="http://schemas.openxmlformats.org/drawingml/2006/main">
            <a:off x="514350" y="1428750"/>
            <a:ext cx="2571750" cy="16002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351D78-33A9-436C-8241-CAAB2B20D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28750"/>
            <a:ext cx="25717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36669B-8E91-4C95-BDBF-87C8CF039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743200"/>
            <a:ext cx="2571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50196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95250" tIns="47625" rIns="9525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boss damage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abad901d644f80"/>
          <a:stretch xmlns:a="http://schemas.openxmlformats.org/drawingml/2006/main"/>
        </p:blipFill>
        <p:spPr>
          <a:xfrm xmlns:a="http://schemas.openxmlformats.org/drawingml/2006/main">
            <a:off x="3371850" y="1428750"/>
            <a:ext cx="2571750" cy="160020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C32433-7FD7-4579-A615-5EB0D6C55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428750"/>
            <a:ext cx="25717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3E2051-48CF-4BCA-BCCE-8EA846CFF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743200"/>
            <a:ext cx="2571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50196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95250" tIns="47625" rIns="9525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clear rate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546e9aff434a79"/>
          <a:stretch xmlns:a="http://schemas.openxmlformats.org/drawingml/2006/main"/>
        </p:blipFill>
        <p:spPr>
          <a:xfrm xmlns:a="http://schemas.openxmlformats.org/drawingml/2006/main">
            <a:off x="6229350" y="1428750"/>
            <a:ext cx="2571750" cy="16002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A1F297-5D58-4139-B66F-761AF5C3F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428750"/>
            <a:ext cx="25717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0AF15E-4D00-4A35-947E-8D46530A4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743200"/>
            <a:ext cx="2571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50196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95250" tIns="47625" rIns="9525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reward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a19b866c4a4664"/>
          <a:stretch xmlns:a="http://schemas.openxmlformats.org/drawingml/2006/main"/>
        </p:blipFill>
        <p:spPr>
          <a:xfrm xmlns:a="http://schemas.openxmlformats.org/drawingml/2006/main">
            <a:off x="9086850" y="1428750"/>
            <a:ext cx="2571750" cy="1600200"/>
          </a:xfrm>
          <a:prstGeom xmlns:a="http://schemas.openxmlformats.org/drawingml/2006/main" prst="rect">
            <a:avLst/>
          </a:prstGeom>
        </p:spPr>
      </p:pic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2E40C4-A7F0-4ADB-B810-0A68AC39D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1428750"/>
            <a:ext cx="25717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A6CA72-DE1A-4EB1-99C9-C9C624517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743200"/>
            <a:ext cx="2571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50196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95250" tIns="47625" rIns="9525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hit rate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39bba08df842b9"/>
          <a:stretch xmlns:a="http://schemas.openxmlformats.org/drawingml/2006/main"/>
        </p:blipFill>
        <p:spPr>
          <a:xfrm xmlns:a="http://schemas.openxmlformats.org/drawingml/2006/main">
            <a:off x="514350" y="3390900"/>
            <a:ext cx="2571750" cy="1600200"/>
          </a:xfrm>
          <a:prstGeom xmlns:a="http://schemas.openxmlformats.org/drawingml/2006/main" prst="rect">
            <a:avLst/>
          </a:prstGeom>
        </p:spPr>
      </p:pic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EDB830-280F-464F-81C4-E9AF885AC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90900"/>
            <a:ext cx="25717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91AD40-3FCB-4784-B6DE-F3AD66C7E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05350"/>
            <a:ext cx="2571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50196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95250" tIns="47625" rIns="9525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in range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26efb78a614b85"/>
          <a:stretch xmlns:a="http://schemas.openxmlformats.org/drawingml/2006/main"/>
        </p:blipFill>
        <p:spPr>
          <a:xfrm xmlns:a="http://schemas.openxmlformats.org/drawingml/2006/main">
            <a:off x="3371850" y="3390900"/>
            <a:ext cx="2571750" cy="1600200"/>
          </a:xfrm>
          <a:prstGeom xmlns:a="http://schemas.openxmlformats.org/drawingml/2006/main" prst="rect">
            <a:avLst/>
          </a:prstGeom>
        </p:spPr>
      </p:pic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913BFA-85B2-4856-B948-8FA0E64DC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390900"/>
            <a:ext cx="25717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73C5657-961F-4056-94EA-0E9F6A8EB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705350"/>
            <a:ext cx="2571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50196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95250" tIns="47625" rIns="9525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clear time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463cea9241431f"/>
          <a:stretch xmlns:a="http://schemas.openxmlformats.org/drawingml/2006/main"/>
        </p:blipFill>
        <p:spPr>
          <a:xfrm xmlns:a="http://schemas.openxmlformats.org/drawingml/2006/main">
            <a:off x="6229350" y="3390900"/>
            <a:ext cx="2571750" cy="1600200"/>
          </a:xfrm>
          <a:prstGeom xmlns:a="http://schemas.openxmlformats.org/drawingml/2006/main" prst="rect">
            <a:avLst/>
          </a:prstGeom>
        </p:spPr>
      </p:pic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39DC452-8053-4D4A-8A96-10EF2D29E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390900"/>
            <a:ext cx="25717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A4504E-2B91-4784-AC99-D46349924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705350"/>
            <a:ext cx="2571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50196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95250" tIns="47625" rIns="9525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phase timeline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31c12c20c348b8"/>
          <a:stretch xmlns:a="http://schemas.openxmlformats.org/drawingml/2006/main"/>
        </p:blipFill>
        <p:spPr>
          <a:xfrm xmlns:a="http://schemas.openxmlformats.org/drawingml/2006/main">
            <a:off x="9086850" y="3390900"/>
            <a:ext cx="2571750" cy="1600200"/>
          </a:xfrm>
          <a:prstGeom xmlns:a="http://schemas.openxmlformats.org/drawingml/2006/main" prst="rect">
            <a:avLst/>
          </a:prstGeom>
        </p:spPr>
      </p:pic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2F3D6EA-B964-45EC-A0D7-DCC83F2C6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390900"/>
            <a:ext cx="25717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0C70758-1782-4104-9FED-4AA65C976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705350"/>
            <a:ext cx="2571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50196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95250" tIns="47625" rIns="9525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leak table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0F9DA43-6090-4D48-B8C4-5C14195A4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62700"/>
            <a:ext cx="266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CODE BLUE PPO 발표자료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1B8CEFB-2431-4C65-9321-8E2CE04CC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917373218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5059E54-1D69-4AD6-88D1-8999FFD33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3"/>
          </a:solidFill>
          <a:ln xmlns:a="http://schemas.openxmlformats.org/drawingml/2006/main" w="0">
            <a:solidFill>
              <a:srgbClr val="F7F7F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D14FE3-2B3A-4A34-8772-E87F733D2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7D51A5-3282-4587-8E63-744CFEBF1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rPr>
              <a:t>검증과 한계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462BBC-CBD6-4529-AC21-AC8591D8A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019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leak 0 근거와 영상별 검증 범위를 같이 보고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8B2F7E-8ED9-45F9-8482-2E438C029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DCE0"/>
          </a:solidFill>
          <a:ln xmlns:a="http://schemas.openxmlformats.org/drawingml/2006/main" w="0">
            <a:solidFill>
              <a:srgbClr val="DADCE0"/>
            </a:solidFill>
            <a:prstDash val="solid"/>
          </a:ln>
        </p:spPr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fbcf4aa9234f4a"/>
          <a:stretch xmlns:a="http://schemas.openxmlformats.org/drawingml/2006/main"/>
        </p:blipFill>
        <p:spPr>
          <a:xfrm xmlns:a="http://schemas.openxmlformats.org/drawingml/2006/main">
            <a:off x="723900" y="1466850"/>
            <a:ext cx="4286250" cy="25717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A9708A-E500-4BDA-B123-6572A280C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66850"/>
            <a:ext cx="428625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35FF47-357D-4908-88A5-9DAB003BA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52850"/>
            <a:ext cx="4286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50196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95250" tIns="47625" rIns="9525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무결성 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76AB36-BAAC-43D7-B26C-1263EBC96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6573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038"/>
          </a:solidFill>
          <a:ln xmlns:a="http://schemas.openxmlformats.org/drawingml/2006/main" w="0">
            <a:solidFill>
              <a:srgbClr val="18803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57248A-C125-4E34-AB2D-752B041C9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562100"/>
            <a:ext cx="5143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attack_out_of_range 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4870E4-7CCE-4AE6-979E-8E03BCED7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000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038"/>
          </a:solidFill>
          <a:ln xmlns:a="http://schemas.openxmlformats.org/drawingml/2006/main" w="0">
            <a:solidFill>
              <a:srgbClr val="18803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ED82AD-F4A6-40A2-B1CD-DF7C067D6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905000"/>
            <a:ext cx="5143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hidden hit 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E9F1D5-6555-4CED-9DFE-E33DA38BF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3431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038"/>
          </a:solidFill>
          <a:ln xmlns:a="http://schemas.openxmlformats.org/drawingml/2006/main" w="0">
            <a:solidFill>
              <a:srgbClr val="18803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8EF4E8-5FBD-4462-A869-A182E5EDA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247900"/>
            <a:ext cx="5143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off-lane hit 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630CB0-11E4-48E0-8F38-59704D4A8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6860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038"/>
          </a:solidFill>
          <a:ln xmlns:a="http://schemas.openxmlformats.org/drawingml/2006/main" w="0">
            <a:solidFill>
              <a:srgbClr val="18803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201609-72C6-4163-AF7D-B3DFBFE9E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590800"/>
            <a:ext cx="5143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stale hit 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FB1F4D-5D19-40C9-AC79-69A685076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0289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038"/>
          </a:solidFill>
          <a:ln xmlns:a="http://schemas.openxmlformats.org/drawingml/2006/main" w="0">
            <a:solidFill>
              <a:srgbClr val="18803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15FF3E-F50C-4C61-9656-0202B4655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933700"/>
            <a:ext cx="5143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fake marker mask leak 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EEEE3C-5E3D-4B8B-8EAA-9C7182A96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3718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038"/>
          </a:solidFill>
          <a:ln xmlns:a="http://schemas.openxmlformats.org/drawingml/2006/main" w="0">
            <a:solidFill>
              <a:srgbClr val="18803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B82614-AEDD-4E3A-B39A-095F63947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276600"/>
            <a:ext cx="5143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next_band leak 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737C88-EA9D-412D-B2FC-C2838D0AD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714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038"/>
          </a:solidFill>
          <a:ln xmlns:a="http://schemas.openxmlformats.org/drawingml/2006/main" w="0">
            <a:solidFill>
              <a:srgbClr val="18803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8882A3-A22E-4655-ABC9-6479EB522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619500"/>
            <a:ext cx="5143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sweep_sequence_index leak 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2D6E4E1-35EA-4D72-96D8-9DFFB13E4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57700"/>
            <a:ext cx="152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rPr>
              <a:t>한계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A4221A-EDE8-41BB-80E7-8134F34DB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720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C756192-7030-483E-A731-DDAD2E3AD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876800"/>
            <a:ext cx="952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영상 3과 영상 4는 799K phase2 sweep 구간 기반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B227D04-D34B-4E13-A2E6-F0957CCAA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959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7E3B0A1-089C-4F21-973F-29F81640F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00650"/>
            <a:ext cx="952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영상 5는 1M inference boss_dead 구간 기반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FA11EEA-5F79-4148-94D4-960B78AEE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19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261E"/>
          </a:solidFill>
          <a:ln xmlns:a="http://schemas.openxmlformats.org/drawingml/2006/main" w="0">
            <a:solidFill>
              <a:srgbClr val="B3261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3D96B3E-0A99-4EF3-8806-72866F37F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524500"/>
            <a:ext cx="952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꼼수성 클리어는 exploit 확정 없이 현상으로 설명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CEE07D6-2F1B-4528-840D-E553F3582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62700"/>
            <a:ext cx="266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CODE BLUE PPO 발표자료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AA4E531-D8C6-4D67-941A-462F4FBB4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038144237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B55C0A5-E556-470B-A1AD-72AC57AEC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3"/>
          </a:solidFill>
          <a:ln xmlns:a="http://schemas.openxmlformats.org/drawingml/2006/main" w="0">
            <a:solidFill>
              <a:srgbClr val="F7F7F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4AC93C-47CC-4B2C-B348-6B175EB42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 w="0">
            <a:solidFill>
              <a:srgbClr val="1A73E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161B18-9CD8-41BA-AD8A-62D895393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B3261E"/>
                </a:solidFill>
                <a:latin typeface="Malgun Gothic"/>
                <a:ea typeface="Malgun Gothic"/>
                <a:cs typeface="Malgun Gothic"/>
              </a:rPr>
              <a:t>마무리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837110-0F9C-420A-8777-62686F8C3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019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발표 흐름은 게임 소개에서 PPO 결과까지 직선으로 연결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544A9B-C9B3-4167-AB07-BB97A7DC6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DCE0"/>
          </a:solidFill>
          <a:ln xmlns:a="http://schemas.openxmlformats.org/drawingml/2006/main" w="0">
            <a:solidFill>
              <a:srgbClr val="DADCE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95F170-3AED-47AD-8189-6F486858D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393371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E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D2515F-E5F7-4C2B-9669-82D411D21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1202871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게임 소개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DC2EB5-80E5-4CAF-BA62-3317CDAE5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5371" y="1657350"/>
            <a:ext cx="1393371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4EA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88849B-5885-4784-A3EA-6A346C879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0621" y="1809750"/>
            <a:ext cx="1202871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패턴 소개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7FBFF9-C54B-4DC1-91B1-0F040C812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1143" y="1657350"/>
            <a:ext cx="1393371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E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538C5F-0F09-4B3B-B609-0FE861C47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6393" y="1809750"/>
            <a:ext cx="1202871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MDP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BA411D-0D47-45DE-A085-56EFE64D3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6914" y="1657350"/>
            <a:ext cx="1393371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4EA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D5E553-5466-43DD-80F1-1961A9AD3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2164" y="1809750"/>
            <a:ext cx="1202871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PPO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BDB422-36C9-4316-9875-217A7DF8E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2686" y="1657350"/>
            <a:ext cx="1393371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E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F33620-3F92-4097-B503-A7039A933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7936" y="1809750"/>
            <a:ext cx="1202871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보상 설계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8265CE-FB6E-49DD-AB1D-9FF950C91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8457" y="1657350"/>
            <a:ext cx="1393371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4EA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5580E2-CC62-46F4-A2DA-EECC82DD4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3707" y="1809750"/>
            <a:ext cx="1202871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학습 설계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929077-503D-4B08-AFAE-A3A0D8318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4229" y="1657350"/>
            <a:ext cx="1393371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E"/>
          </a:solidFill>
          <a:ln xmlns:a="http://schemas.openxmlformats.org/drawingml/2006/main" w="9525">
            <a:solidFill>
              <a:srgbClr val="DADC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FC7106-F5C8-44FC-B7C1-29C706F30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9479" y="1809750"/>
            <a:ext cx="1202871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학습 결과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1C0F4D-924E-4971-83E2-5C375F357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004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4043"/>
          </a:solidFill>
          <a:ln xmlns:a="http://schemas.openxmlformats.org/drawingml/2006/main" w="0">
            <a:solidFill>
              <a:srgbClr val="3C404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7D36EA-C72E-4F07-AEE8-BBF3E8999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05150"/>
            <a:ext cx="9715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발표 본문은 마침표 없는 개조식 유지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2870C64-2E55-429F-BA58-2AFB49C31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00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4043"/>
          </a:solidFill>
          <a:ln xmlns:a="http://schemas.openxmlformats.org/drawingml/2006/main" w="0">
            <a:solidFill>
              <a:srgbClr val="3C404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8F2F6BA-64B7-4D00-9797-E71969E9A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505200"/>
            <a:ext cx="9715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PPT는 실제 캡처와 학습 그래프 포함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47270B9-D768-4ADC-BF8D-FC04A531D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4043"/>
          </a:solidFill>
          <a:ln xmlns:a="http://schemas.openxmlformats.org/drawingml/2006/main" w="0">
            <a:solidFill>
              <a:srgbClr val="3C404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360F764-580D-468F-9D63-506DF9F89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05250"/>
            <a:ext cx="9715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영상 5개 파일 경로를 슬라이드에 명시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0155C73-5FC1-477D-99A5-35165F386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005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4043"/>
          </a:solidFill>
          <a:ln xmlns:a="http://schemas.openxmlformats.org/drawingml/2006/main" w="0">
            <a:solidFill>
              <a:srgbClr val="3C404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AE00547-AC46-4E65-97E5-E8A65E117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9715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중기 패턴 영상은 799K 본캡처로 보강 완료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05112AD-CBB8-4ABC-91B6-20407D44F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006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4043"/>
          </a:solidFill>
          <a:ln xmlns:a="http://schemas.openxmlformats.org/drawingml/2006/main" w="0">
            <a:solidFill>
              <a:srgbClr val="3C404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B06B52D-359B-49A8-8D2A-D71F4E4B8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05350"/>
            <a:ext cx="9715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202124"/>
                </a:solidFill>
                <a:latin typeface="Malgun Gothic"/>
                <a:ea typeface="Malgun Gothic"/>
                <a:cs typeface="Malgun Gothic"/>
              </a:rPr>
              <a:t>PPO-only 1M에서 클린 클리어 정책 학습 성공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6D969FB-424A-4C3F-88DC-3C89E3DAA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62700"/>
            <a:ext cx="266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CODE BLUE PPO 발표자료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BA3F6A5-44E1-4E18-9CC2-5F9980AE0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F6368"/>
                </a:solidFill>
                <a:latin typeface="Malgun Gothic"/>
                <a:ea typeface="Malgun Gothic"/>
                <a:cs typeface="Malgun Gothic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85780551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2026-06-11T02:36:12.6230000Z</dcterms:created>
  <dcterms:modified xsi:type="dcterms:W3CDTF">2026-06-11T02:36:12.6230000Z</dcterms:modified>
</coreProperties>
</file>